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bril Fatface" panose="02000503000000020003" pitchFamily="2" charset="0"/>
      <p:regular r:id="rId11"/>
    </p:embeddedFont>
    <p:embeddedFont>
      <p:font typeface="Merriweather" panose="000005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378"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hyperlink" Target="https://github.com/jagruthijetti/A5_DSA-3_G7"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15269321" y="7123585"/>
            <a:ext cx="4740498" cy="392017"/>
          </a:xfrm>
          <a:custGeom>
            <a:avLst/>
            <a:gdLst/>
            <a:ahLst/>
            <a:cxnLst/>
            <a:rect l="l" t="t" r="r" b="b"/>
            <a:pathLst>
              <a:path w="4740498" h="392017">
                <a:moveTo>
                  <a:pt x="0" y="0"/>
                </a:moveTo>
                <a:lnTo>
                  <a:pt x="4740498" y="0"/>
                </a:lnTo>
                <a:lnTo>
                  <a:pt x="4740498"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rot="-10800000">
            <a:off x="12925742" y="9493834"/>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14844934" y="732646"/>
            <a:ext cx="2767824" cy="2737630"/>
          </a:xfrm>
          <a:custGeom>
            <a:avLst/>
            <a:gdLst/>
            <a:ahLst/>
            <a:cxnLst/>
            <a:rect l="l" t="t" r="r" b="b"/>
            <a:pathLst>
              <a:path w="2767824" h="2737630">
                <a:moveTo>
                  <a:pt x="0" y="0"/>
                </a:moveTo>
                <a:lnTo>
                  <a:pt x="2767824" y="0"/>
                </a:lnTo>
                <a:lnTo>
                  <a:pt x="2767824" y="2737630"/>
                </a:lnTo>
                <a:lnTo>
                  <a:pt x="0" y="27376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TextBox 8"/>
          <p:cNvSpPr txBox="1"/>
          <p:nvPr/>
        </p:nvSpPr>
        <p:spPr>
          <a:xfrm>
            <a:off x="3276600" y="2460410"/>
            <a:ext cx="11219437" cy="3531864"/>
          </a:xfrm>
          <a:prstGeom prst="rect">
            <a:avLst/>
          </a:prstGeom>
        </p:spPr>
        <p:txBody>
          <a:bodyPr lIns="0" tIns="0" rIns="0" bIns="0" rtlCol="0" anchor="t">
            <a:spAutoFit/>
          </a:bodyPr>
          <a:lstStyle/>
          <a:p>
            <a:pPr algn="ctr">
              <a:lnSpc>
                <a:spcPts val="6984"/>
              </a:lnSpc>
              <a:spcBef>
                <a:spcPct val="0"/>
              </a:spcBef>
            </a:pPr>
            <a:r>
              <a:rPr lang="en-US" sz="4988" dirty="0">
                <a:solidFill>
                  <a:srgbClr val="353534"/>
                </a:solidFill>
                <a:latin typeface="Abril Fatface"/>
                <a:ea typeface="Abril Fatface"/>
                <a:cs typeface="Abril Fatface"/>
                <a:sym typeface="Abril Fatface"/>
              </a:rPr>
              <a:t>ReliefFlow : HIGH-PERFORMANCE PARALLEL DISASTER RELIEF ALLOCATION &amp; DYNAMIC SUPPLY NETWORK ENGINE</a:t>
            </a:r>
          </a:p>
        </p:txBody>
      </p:sp>
      <p:sp>
        <p:nvSpPr>
          <p:cNvPr id="9" name="TextBox 9"/>
          <p:cNvSpPr txBox="1"/>
          <p:nvPr/>
        </p:nvSpPr>
        <p:spPr>
          <a:xfrm>
            <a:off x="5419782" y="6356766"/>
            <a:ext cx="7069940" cy="1881797"/>
          </a:xfrm>
          <a:prstGeom prst="rect">
            <a:avLst/>
          </a:prstGeom>
        </p:spPr>
        <p:txBody>
          <a:bodyPr lIns="0" tIns="0" rIns="0" bIns="0" rtlCol="0" anchor="t">
            <a:spAutoFit/>
          </a:bodyPr>
          <a:lstStyle/>
          <a:p>
            <a:pPr algn="ctr">
              <a:lnSpc>
                <a:spcPts val="4965"/>
              </a:lnSpc>
            </a:pPr>
            <a:r>
              <a:rPr lang="en-US" sz="3546" dirty="0">
                <a:solidFill>
                  <a:srgbClr val="353534"/>
                </a:solidFill>
                <a:latin typeface="Merriweather"/>
                <a:ea typeface="Merriweather"/>
                <a:cs typeface="Merriweather"/>
                <a:sym typeface="Merriweather"/>
              </a:rPr>
              <a:t>2510030038-Kruthika Reddy</a:t>
            </a:r>
          </a:p>
          <a:p>
            <a:pPr algn="ctr">
              <a:lnSpc>
                <a:spcPts val="4965"/>
              </a:lnSpc>
            </a:pPr>
            <a:r>
              <a:rPr lang="en-US" sz="3546" dirty="0">
                <a:solidFill>
                  <a:srgbClr val="353534"/>
                </a:solidFill>
                <a:latin typeface="Merriweather"/>
                <a:ea typeface="Merriweather"/>
                <a:cs typeface="Merriweather"/>
                <a:sym typeface="Merriweather"/>
              </a:rPr>
              <a:t>2510030406-Jagruthi Jetti </a:t>
            </a:r>
          </a:p>
          <a:p>
            <a:pPr algn="ctr">
              <a:lnSpc>
                <a:spcPts val="4965"/>
              </a:lnSpc>
              <a:spcBef>
                <a:spcPct val="0"/>
              </a:spcBef>
            </a:pPr>
            <a:endParaRPr lang="en-US" sz="3546" dirty="0">
              <a:solidFill>
                <a:srgbClr val="353534"/>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grpSp>
        <p:nvGrpSpPr>
          <p:cNvPr id="2" name="Group 2"/>
          <p:cNvGrpSpPr/>
          <p:nvPr/>
        </p:nvGrpSpPr>
        <p:grpSpPr>
          <a:xfrm>
            <a:off x="16197774" y="8764908"/>
            <a:ext cx="1061526" cy="3044184"/>
            <a:chOff x="0" y="0"/>
            <a:chExt cx="279579" cy="801760"/>
          </a:xfrm>
        </p:grpSpPr>
        <p:sp>
          <p:nvSpPr>
            <p:cNvPr id="3" name="Freeform 3"/>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txBody>
            <a:bodyPr/>
            <a:lstStyle/>
            <a:p>
              <a:endParaRPr lang="en-IN"/>
            </a:p>
          </p:txBody>
        </p:sp>
        <p:sp>
          <p:nvSpPr>
            <p:cNvPr id="4" name="TextBox 4"/>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01</a:t>
            </a:r>
          </a:p>
        </p:txBody>
      </p:sp>
      <p:sp>
        <p:nvSpPr>
          <p:cNvPr id="6" name="Freeform 6"/>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7" name="Freeform 7"/>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8" name="TextBox 8"/>
          <p:cNvSpPr txBox="1"/>
          <p:nvPr/>
        </p:nvSpPr>
        <p:spPr>
          <a:xfrm>
            <a:off x="3952197" y="1104900"/>
            <a:ext cx="10383605" cy="1368424"/>
          </a:xfrm>
          <a:prstGeom prst="rect">
            <a:avLst/>
          </a:prstGeom>
        </p:spPr>
        <p:txBody>
          <a:bodyPr lIns="0" tIns="0" rIns="0" bIns="0" rtlCol="0" anchor="t">
            <a:spAutoFit/>
          </a:bodyPr>
          <a:lstStyle/>
          <a:p>
            <a:pPr algn="ctr">
              <a:lnSpc>
                <a:spcPts val="11200"/>
              </a:lnSpc>
              <a:spcBef>
                <a:spcPct val="0"/>
              </a:spcBef>
            </a:pPr>
            <a:r>
              <a:rPr lang="en-US" sz="8000" dirty="0">
                <a:solidFill>
                  <a:srgbClr val="353534"/>
                </a:solidFill>
                <a:latin typeface="Abril Fatface"/>
                <a:ea typeface="Abril Fatface"/>
                <a:cs typeface="Abril Fatface"/>
                <a:sym typeface="Abril Fatface"/>
              </a:rPr>
              <a:t>OVERVIEW</a:t>
            </a:r>
          </a:p>
        </p:txBody>
      </p:sp>
      <p:sp>
        <p:nvSpPr>
          <p:cNvPr id="9" name="TextBox 9"/>
          <p:cNvSpPr txBox="1"/>
          <p:nvPr/>
        </p:nvSpPr>
        <p:spPr>
          <a:xfrm>
            <a:off x="1905000" y="3383500"/>
            <a:ext cx="14401800" cy="5921108"/>
          </a:xfrm>
          <a:prstGeom prst="rect">
            <a:avLst/>
          </a:prstGeom>
        </p:spPr>
        <p:txBody>
          <a:bodyPr wrap="square" lIns="0" tIns="0" rIns="0" bIns="0" rtlCol="0" anchor="t">
            <a:spAutoFit/>
          </a:bodyPr>
          <a:lstStyle/>
          <a:p>
            <a:pPr marL="457200" indent="-457200">
              <a:buFont typeface="Wingdings" panose="05000000000000000000" pitchFamily="2" charset="2"/>
              <a:buChar char="§"/>
            </a:pPr>
            <a:r>
              <a:rPr lang="en-IN" sz="3200" dirty="0"/>
              <a:t>During natural disasters (e.g., floods, earthquakes, urban fires), emergency systems experience massive data overloads. Thousands of victims post unstructured calls for help on social platforms, send SMS messages, or place emergency calls. Simultaneously, transport networks suffer severe disruptions, with roads blocked and relief inventories constrained.</a:t>
            </a:r>
          </a:p>
          <a:p>
            <a:pPr marL="457200" indent="-457200">
              <a:buFont typeface="Wingdings" panose="05000000000000000000" pitchFamily="2" charset="2"/>
              <a:buChar char="§"/>
            </a:pPr>
            <a:endParaRPr lang="en-IN" sz="3200" b="1" dirty="0"/>
          </a:p>
          <a:p>
            <a:pPr marL="457200" indent="-457200">
              <a:buFont typeface="Wingdings" panose="05000000000000000000" pitchFamily="2" charset="2"/>
              <a:buChar char="§"/>
            </a:pPr>
            <a:r>
              <a:rPr lang="en-IN" sz="3200" b="1" dirty="0"/>
              <a:t>ReliefFlow</a:t>
            </a:r>
            <a:r>
              <a:rPr lang="en-IN" sz="3200" dirty="0"/>
              <a:t> is an end-to-end processing engine designed to solve this crisis management bottleneck. It ingests high-volume unstructured crisis data, pre-filters and structures it, packages optimal physical supplies into delivery vehicles, and routes convoys along dynamic, damaged road networks in sub-second execution times.</a:t>
            </a:r>
          </a:p>
          <a:p>
            <a:pPr algn="ctr">
              <a:lnSpc>
                <a:spcPts val="4200"/>
              </a:lnSpc>
            </a:pPr>
            <a:endParaRPr lang="en-US" sz="3000" dirty="0">
              <a:solidFill>
                <a:srgbClr val="353534"/>
              </a:solidFill>
              <a:latin typeface="Merriweather"/>
              <a:ea typeface="Merriweather"/>
              <a:cs typeface="Merriweather"/>
              <a:sym typeface="Merriweather"/>
            </a:endParaRPr>
          </a:p>
        </p:txBody>
      </p:sp>
      <p:sp>
        <p:nvSpPr>
          <p:cNvPr id="10" name="Freeform 10"/>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1" name="Freeform 11"/>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1333289" y="2137724"/>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Freeform 3"/>
          <p:cNvSpPr/>
          <p:nvPr/>
        </p:nvSpPr>
        <p:spPr>
          <a:xfrm>
            <a:off x="457200" y="302466"/>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p:cNvSpPr txBox="1"/>
          <p:nvPr/>
        </p:nvSpPr>
        <p:spPr>
          <a:xfrm>
            <a:off x="2590800" y="646549"/>
            <a:ext cx="12597151" cy="1342803"/>
          </a:xfrm>
          <a:prstGeom prst="rect">
            <a:avLst/>
          </a:prstGeom>
        </p:spPr>
        <p:txBody>
          <a:bodyPr wrap="square" lIns="0" tIns="0" rIns="0" bIns="0" rtlCol="0" anchor="t">
            <a:spAutoFit/>
          </a:bodyPr>
          <a:lstStyle/>
          <a:p>
            <a:pPr algn="ctr">
              <a:lnSpc>
                <a:spcPts val="11200"/>
              </a:lnSpc>
              <a:spcBef>
                <a:spcPct val="0"/>
              </a:spcBef>
            </a:pPr>
            <a:r>
              <a:rPr lang="en-US" sz="8000" dirty="0">
                <a:solidFill>
                  <a:srgbClr val="353534"/>
                </a:solidFill>
                <a:latin typeface="Abril Fatface"/>
                <a:ea typeface="Abril Fatface"/>
                <a:cs typeface="Abril Fatface"/>
                <a:sym typeface="Abril Fatface"/>
              </a:rPr>
              <a:t>FEATURES &amp; FUNCTIONS</a:t>
            </a:r>
          </a:p>
        </p:txBody>
      </p:sp>
      <p:sp>
        <p:nvSpPr>
          <p:cNvPr id="5" name="TextBox 5"/>
          <p:cNvSpPr txBox="1"/>
          <p:nvPr/>
        </p:nvSpPr>
        <p:spPr>
          <a:xfrm>
            <a:off x="7003423" y="2878734"/>
            <a:ext cx="9203878" cy="6413551"/>
          </a:xfrm>
          <a:prstGeom prst="rect">
            <a:avLst/>
          </a:prstGeom>
        </p:spPr>
        <p:txBody>
          <a:bodyPr wrap="square" lIns="0" tIns="0" rIns="0" bIns="0" rtlCol="0" anchor="t">
            <a:spAutoFit/>
          </a:bodyPr>
          <a:lstStyle/>
          <a:p>
            <a:r>
              <a:rPr lang="en-IN" sz="2400" b="1" dirty="0"/>
              <a:t>A. </a:t>
            </a:r>
            <a:r>
              <a:rPr lang="en-IN" sz="2400" b="1" u="sng" dirty="0"/>
              <a:t>Fast Search &amp; Filtering</a:t>
            </a:r>
          </a:p>
          <a:p>
            <a:pPr marL="800100" lvl="1" indent="-342900">
              <a:buFont typeface="Courier New" panose="02070309020205020404" pitchFamily="49" charset="0"/>
              <a:buChar char="o"/>
            </a:pPr>
            <a:r>
              <a:rPr lang="en-IN" sz="2400" b="1" dirty="0"/>
              <a:t>Aho-Corasick Automaton:</a:t>
            </a:r>
            <a:r>
              <a:rPr lang="en-IN" sz="2400" dirty="0"/>
              <a:t> Scans incoming text instantly to catch key keywords in a single pass.</a:t>
            </a:r>
          </a:p>
          <a:p>
            <a:pPr marL="800100" lvl="1" indent="-342900">
              <a:buFont typeface="Courier New" panose="02070309020205020404" pitchFamily="49" charset="0"/>
              <a:buChar char="o"/>
            </a:pPr>
            <a:r>
              <a:rPr lang="en-IN" sz="2400" b="1" dirty="0"/>
              <a:t>FM-Index &amp; BWT:</a:t>
            </a:r>
            <a:r>
              <a:rPr lang="en-IN" sz="2400" dirty="0"/>
              <a:t> Compresses large amounts of past text data so it takes up minimal space while letting us search it directly.</a:t>
            </a:r>
          </a:p>
          <a:p>
            <a:r>
              <a:rPr lang="en-IN" sz="2400" b="1" dirty="0"/>
              <a:t>B. </a:t>
            </a:r>
            <a:r>
              <a:rPr lang="en-IN" sz="2400" b="1" u="sng" dirty="0"/>
              <a:t>Resource Optimization (Dynamic Programming)</a:t>
            </a:r>
          </a:p>
          <a:p>
            <a:pPr marL="800100" lvl="1" indent="-342900">
              <a:buFont typeface="Courier New" panose="02070309020205020404" pitchFamily="49" charset="0"/>
              <a:buChar char="o"/>
            </a:pPr>
            <a:r>
              <a:rPr lang="en-IN" sz="2400" b="1" dirty="0"/>
              <a:t>Multi-Constraint Knapsack:</a:t>
            </a:r>
            <a:r>
              <a:rPr lang="en-IN" sz="2400" dirty="0"/>
              <a:t> Figures out the best way to pack and allocate resources without exceeding weight, space, or budget limits.</a:t>
            </a:r>
          </a:p>
          <a:p>
            <a:pPr marL="800100" lvl="1" indent="-342900">
              <a:buFont typeface="Courier New" panose="02070309020205020404" pitchFamily="49" charset="0"/>
              <a:buChar char="o"/>
            </a:pPr>
            <a:r>
              <a:rPr lang="en-IN" sz="2400" b="1" dirty="0"/>
              <a:t>Needleman-Wunsch Alignment:</a:t>
            </a:r>
            <a:r>
              <a:rPr lang="en-IN" sz="2400" dirty="0"/>
              <a:t> Compares text sequences line-by-line to find and combine repeated or duplicate reports.</a:t>
            </a:r>
          </a:p>
          <a:p>
            <a:r>
              <a:rPr lang="en-IN" sz="2400" b="1" dirty="0"/>
              <a:t>C. </a:t>
            </a:r>
            <a:r>
              <a:rPr lang="en-IN" sz="2400" b="1" u="sng" dirty="0"/>
              <a:t>Network Routing &amp; Flow</a:t>
            </a:r>
          </a:p>
          <a:p>
            <a:pPr marL="800100" lvl="1" indent="-342900">
              <a:buFont typeface="Courier New" panose="02070309020205020404" pitchFamily="49" charset="0"/>
              <a:buChar char="o"/>
            </a:pPr>
            <a:r>
              <a:rPr lang="en-IN" sz="2400" b="1" dirty="0"/>
              <a:t>Dynamic Network Graph:</a:t>
            </a:r>
            <a:r>
              <a:rPr lang="en-IN" sz="2400" dirty="0"/>
              <a:t> Maps out the entire supply network as a web of starting points, drop-off locations, and connecting routes.</a:t>
            </a:r>
          </a:p>
          <a:p>
            <a:pPr marL="800100" lvl="1" indent="-342900">
              <a:buFont typeface="Courier New" panose="02070309020205020404" pitchFamily="49" charset="0"/>
              <a:buChar char="o"/>
            </a:pPr>
            <a:r>
              <a:rPr lang="en-IN" sz="2400" b="1" dirty="0"/>
              <a:t>Dinic's Algorithm &amp; MCMF:</a:t>
            </a:r>
            <a:r>
              <a:rPr lang="en-IN" sz="2400" dirty="0"/>
              <a:t> Finds the absolute best routes to move maximum supplies at the lowest cost and effort.</a:t>
            </a:r>
          </a:p>
          <a:p>
            <a:pPr algn="ctr">
              <a:lnSpc>
                <a:spcPts val="4200"/>
              </a:lnSpc>
              <a:spcBef>
                <a:spcPct val="0"/>
              </a:spcBef>
            </a:pPr>
            <a:endParaRPr lang="en-US" sz="3000" dirty="0">
              <a:solidFill>
                <a:srgbClr val="353534"/>
              </a:solidFill>
              <a:latin typeface="Merriweather"/>
              <a:ea typeface="Merriweather"/>
              <a:cs typeface="Merriweather"/>
              <a:sym typeface="Merriweather"/>
            </a:endParaRPr>
          </a:p>
        </p:txBody>
      </p:sp>
      <p:grpSp>
        <p:nvGrpSpPr>
          <p:cNvPr id="6" name="Group 6"/>
          <p:cNvGrpSpPr/>
          <p:nvPr/>
        </p:nvGrpSpPr>
        <p:grpSpPr>
          <a:xfrm>
            <a:off x="16197774"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txBody>
            <a:bodyPr/>
            <a:lstStyle/>
            <a:p>
              <a:endParaRPr lang="en-IN"/>
            </a:p>
          </p:txBody>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02</a:t>
            </a:r>
          </a:p>
        </p:txBody>
      </p:sp>
      <p:sp>
        <p:nvSpPr>
          <p:cNvPr id="10" name="Freeform 10"/>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pic>
        <p:nvPicPr>
          <p:cNvPr id="12" name="Picture 11">
            <a:extLst>
              <a:ext uri="{FF2B5EF4-FFF2-40B4-BE49-F238E27FC236}">
                <a16:creationId xmlns:a16="http://schemas.microsoft.com/office/drawing/2014/main" id="{2D9E817D-6C74-BAC7-5818-24C798B940CB}"/>
              </a:ext>
            </a:extLst>
          </p:cNvPr>
          <p:cNvPicPr>
            <a:picLocks noChangeAspect="1"/>
          </p:cNvPicPr>
          <p:nvPr/>
        </p:nvPicPr>
        <p:blipFill>
          <a:blip r:embed="rId3"/>
          <a:stretch>
            <a:fillRect/>
          </a:stretch>
        </p:blipFill>
        <p:spPr>
          <a:xfrm>
            <a:off x="1295400" y="1989352"/>
            <a:ext cx="5257800" cy="78867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3899245" y="419100"/>
            <a:ext cx="10383605" cy="1368424"/>
          </a:xfrm>
          <a:prstGeom prst="rect">
            <a:avLst/>
          </a:prstGeom>
        </p:spPr>
        <p:txBody>
          <a:bodyPr lIns="0" tIns="0" rIns="0" bIns="0" rtlCol="0" anchor="t">
            <a:spAutoFit/>
          </a:bodyPr>
          <a:lstStyle/>
          <a:p>
            <a:pPr algn="ctr">
              <a:lnSpc>
                <a:spcPts val="11200"/>
              </a:lnSpc>
              <a:spcBef>
                <a:spcPct val="0"/>
              </a:spcBef>
            </a:pPr>
            <a:r>
              <a:rPr lang="en-US" sz="8000" dirty="0">
                <a:solidFill>
                  <a:srgbClr val="353534"/>
                </a:solidFill>
                <a:latin typeface="Abril Fatface"/>
                <a:ea typeface="Abril Fatface"/>
                <a:cs typeface="Abril Fatface"/>
                <a:sym typeface="Abril Fatface"/>
              </a:rPr>
              <a:t>ROLES</a:t>
            </a:r>
          </a:p>
        </p:txBody>
      </p:sp>
      <p:sp>
        <p:nvSpPr>
          <p:cNvPr id="6" name="TextBox 6"/>
          <p:cNvSpPr txBox="1"/>
          <p:nvPr/>
        </p:nvSpPr>
        <p:spPr>
          <a:xfrm>
            <a:off x="1839548" y="2661168"/>
            <a:ext cx="13552852" cy="2982740"/>
          </a:xfrm>
          <a:prstGeom prst="rect">
            <a:avLst/>
          </a:prstGeom>
        </p:spPr>
        <p:txBody>
          <a:bodyPr wrap="square" lIns="0" tIns="0" rIns="0" bIns="0" rtlCol="0" anchor="t">
            <a:spAutoFit/>
          </a:bodyPr>
          <a:lstStyle/>
          <a:p>
            <a:pPr marL="302260" lvl="1">
              <a:lnSpc>
                <a:spcPts val="3920"/>
              </a:lnSpc>
            </a:pPr>
            <a:r>
              <a:rPr lang="en-US" sz="3200" dirty="0">
                <a:solidFill>
                  <a:srgbClr val="353534"/>
                </a:solidFill>
                <a:latin typeface="Merriweather"/>
                <a:ea typeface="Merriweather"/>
                <a:cs typeface="Merriweather"/>
                <a:sym typeface="Merriweather"/>
              </a:rPr>
              <a:t>Kruthika Reddy </a:t>
            </a:r>
            <a:r>
              <a:rPr lang="en-US" sz="2800" dirty="0">
                <a:solidFill>
                  <a:srgbClr val="353534"/>
                </a:solidFill>
                <a:latin typeface="Merriweather"/>
                <a:ea typeface="Merriweather"/>
                <a:cs typeface="Merriweather"/>
                <a:sym typeface="Merriweather"/>
              </a:rPr>
              <a:t>-</a:t>
            </a:r>
            <a:r>
              <a:rPr lang="en-US" sz="3600" dirty="0">
                <a:solidFill>
                  <a:srgbClr val="353534"/>
                </a:solidFill>
                <a:latin typeface="Merriweather"/>
                <a:ea typeface="Merriweather"/>
                <a:cs typeface="Merriweather"/>
                <a:sym typeface="Merriweather"/>
              </a:rPr>
              <a:t> </a:t>
            </a:r>
            <a:r>
              <a:rPr lang="en-IN" sz="3200" dirty="0"/>
              <a:t>Data Ingestion &amp; Sequence Algorithmic Lead</a:t>
            </a:r>
          </a:p>
          <a:p>
            <a:pPr marL="302260" lvl="1">
              <a:lnSpc>
                <a:spcPts val="3920"/>
              </a:lnSpc>
            </a:pPr>
            <a:endParaRPr lang="en-IN" sz="3200" dirty="0"/>
          </a:p>
          <a:p>
            <a:pPr marL="302260" lvl="1">
              <a:lnSpc>
                <a:spcPts val="3920"/>
              </a:lnSpc>
            </a:pPr>
            <a:r>
              <a:rPr lang="en-IN" sz="3000" b="1" dirty="0"/>
              <a:t>Functional Role:</a:t>
            </a:r>
            <a:r>
              <a:rPr lang="en-IN" sz="3000" dirty="0"/>
              <a:t> Responsible for building the high-speed text processing pipeline, handling live SOS message feeds, multi-pattern search, and record deduplication.</a:t>
            </a:r>
          </a:p>
          <a:p>
            <a:pPr marL="302260" lvl="1">
              <a:lnSpc>
                <a:spcPts val="3920"/>
              </a:lnSpc>
            </a:pPr>
            <a:r>
              <a:rPr lang="en-IN" sz="3000" b="1" dirty="0"/>
              <a:t>Focus:</a:t>
            </a:r>
            <a:r>
              <a:rPr lang="en-IN" sz="3000" dirty="0"/>
              <a:t> Stream Parsing, String Algorithms, Fuzzy Matching, and Parallel Processing.</a:t>
            </a:r>
          </a:p>
          <a:p>
            <a:pPr marL="302260" lvl="1">
              <a:lnSpc>
                <a:spcPts val="3920"/>
              </a:lnSpc>
            </a:pPr>
            <a:r>
              <a:rPr lang="en-US" sz="3200" dirty="0">
                <a:solidFill>
                  <a:srgbClr val="353534"/>
                </a:solidFill>
                <a:latin typeface="Merriweather"/>
                <a:ea typeface="Merriweather"/>
                <a:cs typeface="Merriweather"/>
                <a:sym typeface="Merriweather"/>
              </a:rPr>
              <a:t> </a:t>
            </a:r>
            <a:endParaRPr lang="en-US" sz="2800" dirty="0">
              <a:solidFill>
                <a:srgbClr val="353534"/>
              </a:solidFill>
              <a:latin typeface="Merriweather"/>
              <a:ea typeface="Merriweather"/>
              <a:cs typeface="Merriweather"/>
              <a:sym typeface="Merriweather"/>
            </a:endParaRPr>
          </a:p>
        </p:txBody>
      </p:sp>
      <p:sp>
        <p:nvSpPr>
          <p:cNvPr id="7" name="TextBox 7"/>
          <p:cNvSpPr txBox="1"/>
          <p:nvPr/>
        </p:nvSpPr>
        <p:spPr>
          <a:xfrm>
            <a:off x="2286193" y="5858222"/>
            <a:ext cx="13106207" cy="3077766"/>
          </a:xfrm>
          <a:prstGeom prst="rect">
            <a:avLst/>
          </a:prstGeom>
        </p:spPr>
        <p:txBody>
          <a:bodyPr wrap="square" lIns="0" tIns="0" rIns="0" bIns="0" rtlCol="0" anchor="t">
            <a:spAutoFit/>
          </a:bodyPr>
          <a:lstStyle/>
          <a:p>
            <a:r>
              <a:rPr lang="en-US" sz="3200" dirty="0">
                <a:solidFill>
                  <a:srgbClr val="353534"/>
                </a:solidFill>
                <a:latin typeface="Merriweather"/>
                <a:ea typeface="Merriweather"/>
                <a:cs typeface="Merriweather"/>
                <a:sym typeface="Merriweather"/>
              </a:rPr>
              <a:t>Jagruthi - </a:t>
            </a:r>
            <a:r>
              <a:rPr lang="en-IN" sz="3200" dirty="0"/>
              <a:t>Graph Optimization &amp; Dynamic Programming Lead</a:t>
            </a:r>
          </a:p>
          <a:p>
            <a:endParaRPr lang="en-IN" b="1" dirty="0"/>
          </a:p>
          <a:p>
            <a:r>
              <a:rPr lang="en-IN" sz="3000" b="1" dirty="0"/>
              <a:t>Functional Role:-</a:t>
            </a:r>
            <a:r>
              <a:rPr lang="en-IN" sz="3000" dirty="0"/>
              <a:t> Responsible for modeling real-world supply networks, computing optimal delivery routes around damaged infrastructure, and managing supply packing.</a:t>
            </a:r>
          </a:p>
          <a:p>
            <a:r>
              <a:rPr lang="en-IN" sz="3000" b="1" dirty="0"/>
              <a:t>Focus:</a:t>
            </a:r>
            <a:r>
              <a:rPr lang="en-IN" sz="3000" dirty="0"/>
              <a:t> Resource Allocation, Network Flow Routing, and Multi-Constraint Optimization.</a:t>
            </a:r>
            <a:endParaRPr lang="en-IN" sz="3000" b="1" dirty="0"/>
          </a:p>
        </p:txBody>
      </p:sp>
      <p:grpSp>
        <p:nvGrpSpPr>
          <p:cNvPr id="8" name="Group 8"/>
          <p:cNvGrpSpPr/>
          <p:nvPr/>
        </p:nvGrpSpPr>
        <p:grpSpPr>
          <a:xfrm>
            <a:off x="16197774" y="8764908"/>
            <a:ext cx="1061526" cy="3044184"/>
            <a:chOff x="0" y="0"/>
            <a:chExt cx="279579" cy="801760"/>
          </a:xfrm>
        </p:grpSpPr>
        <p:sp>
          <p:nvSpPr>
            <p:cNvPr id="9" name="Freeform 9"/>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txBody>
            <a:bodyPr/>
            <a:lstStyle/>
            <a:p>
              <a:endParaRPr lang="en-IN"/>
            </a:p>
          </p:txBody>
        </p:sp>
        <p:sp>
          <p:nvSpPr>
            <p:cNvPr id="10" name="TextBox 10"/>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03</a:t>
            </a:r>
          </a:p>
        </p:txBody>
      </p:sp>
      <p:sp>
        <p:nvSpPr>
          <p:cNvPr id="12" name="Freeform 12"/>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a:off x="685800" y="36344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5400000">
            <a:off x="-1104689" y="2153936"/>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p:cNvSpPr txBox="1"/>
          <p:nvPr/>
        </p:nvSpPr>
        <p:spPr>
          <a:xfrm>
            <a:off x="2133600" y="870286"/>
            <a:ext cx="12729421" cy="1368424"/>
          </a:xfrm>
          <a:prstGeom prst="rect">
            <a:avLst/>
          </a:prstGeom>
        </p:spPr>
        <p:txBody>
          <a:bodyPr lIns="0" tIns="0" rIns="0" bIns="0" rtlCol="0" anchor="t">
            <a:spAutoFit/>
          </a:bodyPr>
          <a:lstStyle/>
          <a:p>
            <a:pPr algn="ctr">
              <a:lnSpc>
                <a:spcPts val="11200"/>
              </a:lnSpc>
              <a:spcBef>
                <a:spcPct val="0"/>
              </a:spcBef>
            </a:pPr>
            <a:r>
              <a:rPr lang="en-US" sz="8000" dirty="0">
                <a:solidFill>
                  <a:srgbClr val="353534"/>
                </a:solidFill>
                <a:latin typeface="Abril Fatface"/>
                <a:ea typeface="Abril Fatface"/>
                <a:cs typeface="Abril Fatface"/>
                <a:sym typeface="Abril Fatface"/>
              </a:rPr>
              <a:t>EXPECTED OUTCOME</a:t>
            </a:r>
          </a:p>
        </p:txBody>
      </p:sp>
      <p:sp>
        <p:nvSpPr>
          <p:cNvPr id="5" name="TextBox 5"/>
          <p:cNvSpPr txBox="1"/>
          <p:nvPr/>
        </p:nvSpPr>
        <p:spPr>
          <a:xfrm>
            <a:off x="1650465" y="2924751"/>
            <a:ext cx="14987070" cy="5428666"/>
          </a:xfrm>
          <a:prstGeom prst="rect">
            <a:avLst/>
          </a:prstGeom>
        </p:spPr>
        <p:txBody>
          <a:bodyPr wrap="square" lIns="0" tIns="0" rIns="0" bIns="0" rtlCol="0" anchor="t">
            <a:spAutoFit/>
          </a:bodyPr>
          <a:lstStyle/>
          <a:p>
            <a:pPr marL="457200" indent="-457200">
              <a:buFont typeface="Courier New" panose="02070309020205020404" pitchFamily="49" charset="0"/>
              <a:buChar char="o"/>
            </a:pPr>
            <a:r>
              <a:rPr lang="en-IN" sz="3200" b="1" dirty="0"/>
              <a:t>Instant Response Times:</a:t>
            </a:r>
            <a:r>
              <a:rPr lang="en-IN" sz="3200" dirty="0"/>
              <a:t> Cuts decision time from hours down to split seconds by automating message processing and dispatch.</a:t>
            </a:r>
          </a:p>
          <a:p>
            <a:pPr marL="457200" indent="-457200">
              <a:buFont typeface="Courier New" panose="02070309020205020404" pitchFamily="49" charset="0"/>
              <a:buChar char="o"/>
            </a:pPr>
            <a:r>
              <a:rPr lang="en-IN" sz="3200" b="1" dirty="0"/>
              <a:t>Zero Wasted Resources:</a:t>
            </a:r>
            <a:r>
              <a:rPr lang="en-IN" sz="3200" dirty="0"/>
              <a:t> Prevents over-packing or sending the wrong supplies by using smart optimization algorithms.</a:t>
            </a:r>
          </a:p>
          <a:p>
            <a:pPr marL="457200" indent="-457200">
              <a:buFont typeface="Courier New" panose="02070309020205020404" pitchFamily="49" charset="0"/>
              <a:buChar char="o"/>
            </a:pPr>
            <a:r>
              <a:rPr lang="en-IN" sz="3200" b="1" dirty="0"/>
              <a:t>Maximum Supply Delivery:</a:t>
            </a:r>
            <a:r>
              <a:rPr lang="en-IN" sz="3200" dirty="0"/>
              <a:t> Moves the highest possible volume of relief goods safely across damaged roads without overloading bridges.</a:t>
            </a:r>
          </a:p>
          <a:p>
            <a:pPr marL="457200" indent="-457200">
              <a:buFont typeface="Courier New" panose="02070309020205020404" pitchFamily="49" charset="0"/>
              <a:buChar char="o"/>
            </a:pPr>
            <a:r>
              <a:rPr lang="en-IN" sz="3200" b="1" dirty="0"/>
              <a:t>Handles Heavy Traffic:</a:t>
            </a:r>
            <a:r>
              <a:rPr lang="en-IN" sz="3200" dirty="0"/>
              <a:t> Processes tens of thousands of incoming SOS messages per minute smoothly without crashing.</a:t>
            </a:r>
          </a:p>
          <a:p>
            <a:pPr marL="457200" indent="-457200">
              <a:buFont typeface="Courier New" panose="02070309020205020404" pitchFamily="49" charset="0"/>
              <a:buChar char="o"/>
            </a:pPr>
            <a:r>
              <a:rPr lang="en-IN" sz="3200" b="1" dirty="0"/>
              <a:t>No Duplicate Reports:</a:t>
            </a:r>
            <a:r>
              <a:rPr lang="en-IN" sz="3200" dirty="0"/>
              <a:t> Automatically combines repeated emergency posts so response teams have a clean, accurate picture of the situation.</a:t>
            </a:r>
          </a:p>
          <a:p>
            <a:pPr algn="ctr">
              <a:lnSpc>
                <a:spcPts val="4200"/>
              </a:lnSpc>
              <a:spcBef>
                <a:spcPct val="0"/>
              </a:spcBef>
            </a:pPr>
            <a:endParaRPr lang="en-US" sz="3000" dirty="0">
              <a:solidFill>
                <a:srgbClr val="353534"/>
              </a:solidFill>
              <a:latin typeface="Merriweather"/>
              <a:ea typeface="Merriweather"/>
              <a:cs typeface="Merriweather"/>
              <a:sym typeface="Merriweather"/>
            </a:endParaRPr>
          </a:p>
        </p:txBody>
      </p:sp>
      <p:grpSp>
        <p:nvGrpSpPr>
          <p:cNvPr id="6" name="Group 6"/>
          <p:cNvGrpSpPr/>
          <p:nvPr/>
        </p:nvGrpSpPr>
        <p:grpSpPr>
          <a:xfrm>
            <a:off x="16207299"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txBody>
            <a:bodyPr/>
            <a:lstStyle/>
            <a:p>
              <a:endParaRPr lang="en-IN"/>
            </a:p>
          </p:txBody>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0" name="Freeform 10"/>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p:cNvSpPr txBox="1"/>
          <p:nvPr/>
        </p:nvSpPr>
        <p:spPr>
          <a:xfrm>
            <a:off x="1332733" y="902778"/>
            <a:ext cx="15622535" cy="1368424"/>
          </a:xfrm>
          <a:prstGeom prst="rect">
            <a:avLst/>
          </a:prstGeom>
        </p:spPr>
        <p:txBody>
          <a:bodyPr lIns="0" tIns="0" rIns="0" bIns="0" rtlCol="0" anchor="t">
            <a:spAutoFit/>
          </a:bodyPr>
          <a:lstStyle/>
          <a:p>
            <a:pPr algn="ctr">
              <a:lnSpc>
                <a:spcPts val="11200"/>
              </a:lnSpc>
              <a:spcBef>
                <a:spcPct val="0"/>
              </a:spcBef>
            </a:pPr>
            <a:r>
              <a:rPr lang="en-US" sz="8000" dirty="0">
                <a:solidFill>
                  <a:srgbClr val="353534"/>
                </a:solidFill>
                <a:latin typeface="Abril Fatface"/>
                <a:ea typeface="Abril Fatface"/>
                <a:cs typeface="Abril Fatface"/>
                <a:sym typeface="Abril Fatface"/>
              </a:rPr>
              <a:t>APPLICATIONS IN REAL WORLD</a:t>
            </a:r>
          </a:p>
        </p:txBody>
      </p:sp>
      <p:sp>
        <p:nvSpPr>
          <p:cNvPr id="5" name="TextBox 5"/>
          <p:cNvSpPr txBox="1"/>
          <p:nvPr/>
        </p:nvSpPr>
        <p:spPr>
          <a:xfrm>
            <a:off x="1183464" y="4783982"/>
            <a:ext cx="4787530" cy="3447098"/>
          </a:xfrm>
          <a:prstGeom prst="rect">
            <a:avLst/>
          </a:prstGeom>
        </p:spPr>
        <p:txBody>
          <a:bodyPr lIns="0" tIns="0" rIns="0" bIns="0" rtlCol="0" anchor="t">
            <a:spAutoFit/>
          </a:bodyPr>
          <a:lstStyle/>
          <a:p>
            <a:pPr algn="ctr"/>
            <a:r>
              <a:rPr lang="en-IN" sz="3200" b="1" dirty="0"/>
              <a:t>Disaster Management</a:t>
            </a:r>
            <a:endParaRPr lang="en-IN" sz="3200" dirty="0"/>
          </a:p>
          <a:p>
            <a:pPr algn="ctr"/>
            <a:r>
              <a:rPr lang="en-IN" sz="3200" dirty="0"/>
              <a:t>Powers city command centre's during major crises (floods, earthquakes) by automatically processing SOS feeds and dispatching first responders.</a:t>
            </a:r>
          </a:p>
        </p:txBody>
      </p:sp>
      <p:sp>
        <p:nvSpPr>
          <p:cNvPr id="6" name="TextBox 6"/>
          <p:cNvSpPr txBox="1"/>
          <p:nvPr/>
        </p:nvSpPr>
        <p:spPr>
          <a:xfrm>
            <a:off x="6750235" y="4783982"/>
            <a:ext cx="4787530" cy="3447098"/>
          </a:xfrm>
          <a:prstGeom prst="rect">
            <a:avLst/>
          </a:prstGeom>
        </p:spPr>
        <p:txBody>
          <a:bodyPr lIns="0" tIns="0" rIns="0" bIns="0" rtlCol="0" anchor="t">
            <a:spAutoFit/>
          </a:bodyPr>
          <a:lstStyle/>
          <a:p>
            <a:pPr algn="ctr"/>
            <a:r>
              <a:rPr lang="en-IN" sz="3200" b="1" dirty="0"/>
              <a:t>Smart City Traffic</a:t>
            </a:r>
            <a:endParaRPr lang="en-IN" sz="3200" dirty="0"/>
          </a:p>
          <a:p>
            <a:pPr algn="ctr"/>
            <a:r>
              <a:rPr lang="en-IN" sz="3200" dirty="0"/>
              <a:t>Integrates with municipal traffic systems to dynamically route relief trucks and clear green corridors through heavily damaged roads.</a:t>
            </a:r>
          </a:p>
        </p:txBody>
      </p:sp>
      <p:sp>
        <p:nvSpPr>
          <p:cNvPr id="7" name="TextBox 7"/>
          <p:cNvSpPr txBox="1"/>
          <p:nvPr/>
        </p:nvSpPr>
        <p:spPr>
          <a:xfrm>
            <a:off x="12318815" y="4783982"/>
            <a:ext cx="4787530" cy="3447098"/>
          </a:xfrm>
          <a:prstGeom prst="rect">
            <a:avLst/>
          </a:prstGeom>
        </p:spPr>
        <p:txBody>
          <a:bodyPr lIns="0" tIns="0" rIns="0" bIns="0" rtlCol="0" anchor="t">
            <a:spAutoFit/>
          </a:bodyPr>
          <a:lstStyle/>
          <a:p>
            <a:pPr algn="ctr"/>
            <a:r>
              <a:rPr lang="en-IN" sz="3200" b="1" dirty="0"/>
              <a:t>NGO &amp; Relief Logistics</a:t>
            </a:r>
            <a:endParaRPr lang="en-IN" sz="3200" dirty="0"/>
          </a:p>
          <a:p>
            <a:pPr algn="ctr"/>
            <a:r>
              <a:rPr lang="en-IN" sz="3200" dirty="0"/>
              <a:t>Helps organizations like the Red Cross optimize warehouse inventory and prioritize delivery of medical supplies to high-urgency zones.</a:t>
            </a:r>
          </a:p>
        </p:txBody>
      </p:sp>
      <p:sp>
        <p:nvSpPr>
          <p:cNvPr id="8" name="TextBox 8"/>
          <p:cNvSpPr txBox="1"/>
          <p:nvPr/>
        </p:nvSpPr>
        <p:spPr>
          <a:xfrm>
            <a:off x="1132775" y="3194029"/>
            <a:ext cx="4888908" cy="1028700"/>
          </a:xfrm>
          <a:prstGeom prst="rect">
            <a:avLst/>
          </a:prstGeom>
        </p:spPr>
        <p:txBody>
          <a:bodyPr lIns="0" tIns="0" rIns="0" bIns="0" rtlCol="0" anchor="t">
            <a:spAutoFit/>
          </a:bodyPr>
          <a:lstStyle/>
          <a:p>
            <a:pPr algn="ctr">
              <a:lnSpc>
                <a:spcPts val="8400"/>
              </a:lnSpc>
              <a:spcBef>
                <a:spcPct val="0"/>
              </a:spcBef>
            </a:pPr>
            <a:r>
              <a:rPr lang="en-US" sz="6000" dirty="0">
                <a:solidFill>
                  <a:srgbClr val="353534"/>
                </a:solidFill>
                <a:latin typeface="Abril Fatface"/>
                <a:ea typeface="Abril Fatface"/>
                <a:cs typeface="Abril Fatface"/>
                <a:sym typeface="Abril Fatface"/>
              </a:rPr>
              <a:t>01</a:t>
            </a:r>
          </a:p>
        </p:txBody>
      </p:sp>
      <p:sp>
        <p:nvSpPr>
          <p:cNvPr id="9" name="TextBox 9"/>
          <p:cNvSpPr txBox="1"/>
          <p:nvPr/>
        </p:nvSpPr>
        <p:spPr>
          <a:xfrm>
            <a:off x="6699546" y="3194029"/>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02</a:t>
            </a:r>
          </a:p>
        </p:txBody>
      </p:sp>
      <p:sp>
        <p:nvSpPr>
          <p:cNvPr id="10" name="TextBox 10"/>
          <p:cNvSpPr txBox="1"/>
          <p:nvPr/>
        </p:nvSpPr>
        <p:spPr>
          <a:xfrm>
            <a:off x="12268126" y="3194029"/>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03</a:t>
            </a:r>
          </a:p>
        </p:txBody>
      </p:sp>
      <p:grpSp>
        <p:nvGrpSpPr>
          <p:cNvPr id="11" name="Group 11"/>
          <p:cNvGrpSpPr/>
          <p:nvPr/>
        </p:nvGrpSpPr>
        <p:grpSpPr>
          <a:xfrm>
            <a:off x="16226349" y="8764908"/>
            <a:ext cx="1061526" cy="3044184"/>
            <a:chOff x="0" y="0"/>
            <a:chExt cx="279579" cy="801760"/>
          </a:xfrm>
        </p:grpSpPr>
        <p:sp>
          <p:nvSpPr>
            <p:cNvPr id="12" name="Freeform 12"/>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txBody>
            <a:bodyPr/>
            <a:lstStyle/>
            <a:p>
              <a:endParaRPr lang="en-IN"/>
            </a:p>
          </p:txBody>
        </p:sp>
        <p:sp>
          <p:nvSpPr>
            <p:cNvPr id="13" name="TextBox 13"/>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611346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05</a:t>
            </a:r>
          </a:p>
        </p:txBody>
      </p:sp>
      <p:sp>
        <p:nvSpPr>
          <p:cNvPr id="15" name="Freeform 15"/>
          <p:cNvSpPr/>
          <p:nvPr/>
        </p:nvSpPr>
        <p:spPr>
          <a:xfrm rot="-10800000">
            <a:off x="1265489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5" name="Group 5"/>
          <p:cNvGrpSpPr/>
          <p:nvPr/>
        </p:nvGrpSpPr>
        <p:grpSpPr>
          <a:xfrm>
            <a:off x="16197774" y="8764908"/>
            <a:ext cx="1061526" cy="3044184"/>
            <a:chOff x="0" y="0"/>
            <a:chExt cx="279579" cy="801760"/>
          </a:xfrm>
        </p:grpSpPr>
        <p:sp>
          <p:nvSpPr>
            <p:cNvPr id="6" name="Freeform 6"/>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txBody>
            <a:bodyPr/>
            <a:lstStyle/>
            <a:p>
              <a:endParaRPr lang="en-IN"/>
            </a:p>
          </p:txBody>
        </p:sp>
        <p:sp>
          <p:nvSpPr>
            <p:cNvPr id="7" name="TextBox 7"/>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06</a:t>
            </a:r>
          </a:p>
        </p:txBody>
      </p:sp>
      <p:sp>
        <p:nvSpPr>
          <p:cNvPr id="9" name="Freeform 9"/>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a:hlinkClick r:id="rId4" tooltip="https://github.com/jagruthijetti/A5_DSA-3_G7"/>
          </p:cNvPr>
          <p:cNvSpPr/>
          <p:nvPr/>
        </p:nvSpPr>
        <p:spPr>
          <a:xfrm>
            <a:off x="8263280" y="3639430"/>
            <a:ext cx="1761439" cy="1761439"/>
          </a:xfrm>
          <a:custGeom>
            <a:avLst/>
            <a:gdLst/>
            <a:ahLst/>
            <a:cxnLst/>
            <a:rect l="l" t="t" r="r" b="b"/>
            <a:pathLst>
              <a:path w="1761439" h="1761439">
                <a:moveTo>
                  <a:pt x="0" y="0"/>
                </a:moveTo>
                <a:lnTo>
                  <a:pt x="1761440" y="0"/>
                </a:lnTo>
                <a:lnTo>
                  <a:pt x="1761440" y="1761439"/>
                </a:lnTo>
                <a:lnTo>
                  <a:pt x="0" y="1761439"/>
                </a:lnTo>
                <a:lnTo>
                  <a:pt x="0" y="0"/>
                </a:lnTo>
                <a:close/>
              </a:path>
            </a:pathLst>
          </a:custGeom>
          <a:blipFill>
            <a:blip r:embed="rId5"/>
            <a:stretch>
              <a:fillRect/>
            </a:stretch>
          </a:blipFill>
        </p:spPr>
        <p:txBody>
          <a:bodyPr/>
          <a:lstStyle/>
          <a:p>
            <a:endParaRPr lang="en-IN"/>
          </a:p>
        </p:txBody>
      </p:sp>
      <p:sp>
        <p:nvSpPr>
          <p:cNvPr id="11" name="TextBox 11"/>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GITHUB LINK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a:off x="503919" y="326400"/>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3" name="Freeform 3"/>
          <p:cNvSpPr/>
          <p:nvPr/>
        </p:nvSpPr>
        <p:spPr>
          <a:xfrm rot="5400000">
            <a:off x="-1320613" y="2116889"/>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TextBox 4"/>
          <p:cNvSpPr txBox="1"/>
          <p:nvPr/>
        </p:nvSpPr>
        <p:spPr>
          <a:xfrm>
            <a:off x="6329692" y="429832"/>
            <a:ext cx="10383605" cy="1368424"/>
          </a:xfrm>
          <a:prstGeom prst="rect">
            <a:avLst/>
          </a:prstGeom>
        </p:spPr>
        <p:txBody>
          <a:bodyPr lIns="0" tIns="0" rIns="0" bIns="0" rtlCol="0" anchor="t">
            <a:spAutoFit/>
          </a:bodyPr>
          <a:lstStyle/>
          <a:p>
            <a:pPr algn="ctr">
              <a:lnSpc>
                <a:spcPts val="11200"/>
              </a:lnSpc>
              <a:spcBef>
                <a:spcPct val="0"/>
              </a:spcBef>
            </a:pPr>
            <a:r>
              <a:rPr lang="en-US" sz="8000" dirty="0">
                <a:solidFill>
                  <a:srgbClr val="353534"/>
                </a:solidFill>
                <a:latin typeface="Abril Fatface"/>
                <a:ea typeface="Abril Fatface"/>
                <a:cs typeface="Abril Fatface"/>
                <a:sym typeface="Abril Fatface"/>
              </a:rPr>
              <a:t>REFERENCES</a:t>
            </a:r>
          </a:p>
        </p:txBody>
      </p:sp>
      <p:sp>
        <p:nvSpPr>
          <p:cNvPr id="5" name="TextBox 5"/>
          <p:cNvSpPr txBox="1"/>
          <p:nvPr/>
        </p:nvSpPr>
        <p:spPr>
          <a:xfrm>
            <a:off x="1177147" y="2114029"/>
            <a:ext cx="15056187" cy="6967548"/>
          </a:xfrm>
          <a:prstGeom prst="rect">
            <a:avLst/>
          </a:prstGeom>
        </p:spPr>
        <p:txBody>
          <a:bodyPr wrap="square" lIns="0" tIns="0" rIns="0" bIns="0" rtlCol="0" anchor="t">
            <a:spAutoFit/>
          </a:bodyPr>
          <a:lstStyle/>
          <a:p>
            <a:r>
              <a:rPr lang="en-IN" sz="3600" b="1" u="sng" dirty="0"/>
              <a:t>Motivation:  Real-Time Crisis Operations during Assam Floods</a:t>
            </a:r>
          </a:p>
          <a:p>
            <a:r>
              <a:rPr lang="en-IN" sz="3200" dirty="0"/>
              <a:t>During extreme weather events such as the severe multi-wave floods in Assam, emergency response teams face massive operational bottlenecks:</a:t>
            </a:r>
          </a:p>
          <a:p>
            <a:r>
              <a:rPr lang="en-IN" sz="3200" b="1" dirty="0"/>
              <a:t>Communication Overload:</a:t>
            </a:r>
            <a:r>
              <a:rPr lang="en-IN" sz="3200" dirty="0"/>
              <a:t> Tens of thousands of distress posts flood social media, SMS, and emergency hotlines simultaneously, creating a triage bottleneck.</a:t>
            </a:r>
          </a:p>
          <a:p>
            <a:r>
              <a:rPr lang="en-IN" sz="3200" b="1" dirty="0"/>
              <a:t>Infrastructure Failure:</a:t>
            </a:r>
            <a:r>
              <a:rPr lang="en-IN" sz="3200" dirty="0"/>
              <a:t> Flooded roads and collapsed bridges constantly alter transit networks, complicating relief routing.</a:t>
            </a:r>
          </a:p>
          <a:p>
            <a:r>
              <a:rPr lang="en-IN" sz="3200" b="1" dirty="0"/>
              <a:t>Supply Allocation Gaps:</a:t>
            </a:r>
            <a:r>
              <a:rPr lang="en-IN" sz="3200" dirty="0"/>
              <a:t> Coordinating multi-agency dispatch (NDRF, SDRF, NGOs) often leads to over-allocation in easily accessible areas and delays in remote pockets.</a:t>
            </a:r>
          </a:p>
          <a:p>
            <a:endParaRPr lang="en-IN" sz="3200" dirty="0"/>
          </a:p>
          <a:p>
            <a:pPr marL="457200" indent="-457200">
              <a:buFont typeface="Wingdings" panose="05000000000000000000" pitchFamily="2" charset="2"/>
              <a:buChar char="Ø"/>
            </a:pPr>
            <a:r>
              <a:rPr lang="en-IN" sz="3200" dirty="0"/>
              <a:t>This project was built to directly address these type of systemic bottlenecks by creating an automated, algorithmic backend designed for high-throughput message de-duplication, dynamic network re-routing, and optimal multi-constraint resource packing.</a:t>
            </a:r>
          </a:p>
          <a:p>
            <a:pPr algn="ctr">
              <a:lnSpc>
                <a:spcPts val="4200"/>
              </a:lnSpc>
              <a:spcBef>
                <a:spcPct val="0"/>
              </a:spcBef>
            </a:pPr>
            <a:endParaRPr lang="en-US" sz="3000" dirty="0">
              <a:solidFill>
                <a:srgbClr val="353534"/>
              </a:solidFill>
              <a:latin typeface="Merriweather"/>
              <a:ea typeface="Merriweather"/>
              <a:cs typeface="Merriweather"/>
              <a:sym typeface="Merriweather"/>
            </a:endParaRPr>
          </a:p>
        </p:txBody>
      </p:sp>
      <p:grpSp>
        <p:nvGrpSpPr>
          <p:cNvPr id="6" name="Group 6"/>
          <p:cNvGrpSpPr/>
          <p:nvPr/>
        </p:nvGrpSpPr>
        <p:grpSpPr>
          <a:xfrm>
            <a:off x="16197774" y="8764908"/>
            <a:ext cx="1061526" cy="3044184"/>
            <a:chOff x="0" y="0"/>
            <a:chExt cx="279579" cy="801760"/>
          </a:xfrm>
        </p:grpSpPr>
        <p:sp>
          <p:nvSpPr>
            <p:cNvPr id="7" name="Freeform 7"/>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txBody>
            <a:bodyPr/>
            <a:lstStyle/>
            <a:p>
              <a:endParaRPr lang="en-IN"/>
            </a:p>
          </p:txBody>
        </p:sp>
        <p:sp>
          <p:nvSpPr>
            <p:cNvPr id="8" name="TextBox 8"/>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07</a:t>
            </a:r>
          </a:p>
        </p:txBody>
      </p:sp>
      <p:sp>
        <p:nvSpPr>
          <p:cNvPr id="10" name="Freeform 10"/>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rot="-5400000">
            <a:off x="15269321" y="7123585"/>
            <a:ext cx="4740498" cy="392017"/>
          </a:xfrm>
          <a:custGeom>
            <a:avLst/>
            <a:gdLst/>
            <a:ahLst/>
            <a:cxnLst/>
            <a:rect l="l" t="t" r="r" b="b"/>
            <a:pathLst>
              <a:path w="4740498" h="392017">
                <a:moveTo>
                  <a:pt x="0" y="0"/>
                </a:moveTo>
                <a:lnTo>
                  <a:pt x="4740498" y="0"/>
                </a:lnTo>
                <a:lnTo>
                  <a:pt x="4740498"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rot="-10800000">
            <a:off x="12925742" y="9493834"/>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14844934" y="732646"/>
            <a:ext cx="2767824" cy="2737630"/>
          </a:xfrm>
          <a:custGeom>
            <a:avLst/>
            <a:gdLst/>
            <a:ahLst/>
            <a:cxnLst/>
            <a:rect l="l" t="t" r="r" b="b"/>
            <a:pathLst>
              <a:path w="2767824" h="2737630">
                <a:moveTo>
                  <a:pt x="0" y="0"/>
                </a:moveTo>
                <a:lnTo>
                  <a:pt x="2767824" y="0"/>
                </a:lnTo>
                <a:lnTo>
                  <a:pt x="2767824" y="2737630"/>
                </a:lnTo>
                <a:lnTo>
                  <a:pt x="0" y="27376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Freeform 7"/>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8" name="TextBox 8"/>
          <p:cNvSpPr txBox="1"/>
          <p:nvPr/>
        </p:nvSpPr>
        <p:spPr>
          <a:xfrm>
            <a:off x="3132093" y="3260726"/>
            <a:ext cx="12023813" cy="1882774"/>
          </a:xfrm>
          <a:prstGeom prst="rect">
            <a:avLst/>
          </a:prstGeom>
        </p:spPr>
        <p:txBody>
          <a:bodyPr lIns="0" tIns="0" rIns="0" bIns="0" rtlCol="0" anchor="t">
            <a:spAutoFit/>
          </a:bodyPr>
          <a:lstStyle/>
          <a:p>
            <a:pPr algn="ctr">
              <a:lnSpc>
                <a:spcPts val="15400"/>
              </a:lnSpc>
              <a:spcBef>
                <a:spcPct val="0"/>
              </a:spcBef>
            </a:pPr>
            <a:r>
              <a:rPr lang="en-US" sz="11000">
                <a:solidFill>
                  <a:srgbClr val="353534"/>
                </a:solidFill>
                <a:latin typeface="Abril Fatface"/>
                <a:ea typeface="Abril Fatface"/>
                <a:cs typeface="Abril Fatface"/>
                <a:sym typeface="Abril Fatface"/>
              </a:rPr>
              <a:t>THANK YOU</a:t>
            </a:r>
          </a:p>
        </p:txBody>
      </p:sp>
      <p:sp>
        <p:nvSpPr>
          <p:cNvPr id="9" name="TextBox 9"/>
          <p:cNvSpPr txBox="1"/>
          <p:nvPr/>
        </p:nvSpPr>
        <p:spPr>
          <a:xfrm>
            <a:off x="4658970" y="5546106"/>
            <a:ext cx="8970060" cy="762000"/>
          </a:xfrm>
          <a:prstGeom prst="rect">
            <a:avLst/>
          </a:prstGeom>
        </p:spPr>
        <p:txBody>
          <a:bodyPr lIns="0" tIns="0" rIns="0" bIns="0" rtlCol="0" anchor="t">
            <a:spAutoFit/>
          </a:bodyPr>
          <a:lstStyle/>
          <a:p>
            <a:pPr algn="ctr">
              <a:lnSpc>
                <a:spcPts val="6299"/>
              </a:lnSpc>
              <a:spcBef>
                <a:spcPct val="0"/>
              </a:spcBef>
            </a:pPr>
            <a:r>
              <a:rPr lang="en-US" sz="4500" dirty="0">
                <a:solidFill>
                  <a:srgbClr val="353534"/>
                </a:solidFill>
                <a:latin typeface="Merriweather"/>
                <a:ea typeface="Merriweather"/>
                <a:cs typeface="Merriweather"/>
                <a:sym typeface="Merriweather"/>
              </a:rPr>
              <a:t>Team G-7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377</TotalTime>
  <Words>689</Words>
  <Application>Microsoft Office PowerPoint</Application>
  <PresentationFormat>Custom</PresentationFormat>
  <Paragraphs>61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Courier New</vt:lpstr>
      <vt:lpstr>Merriweather</vt:lpstr>
      <vt:lpstr>Calibri</vt:lpstr>
      <vt:lpstr>Arial</vt:lpstr>
      <vt:lpstr>Abril Fatface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and Beige Minimalist Professional Presentation</dc:title>
  <cp:lastModifiedBy>Kruthika reddy Mayreddy</cp:lastModifiedBy>
  <cp:revision>6</cp:revision>
  <dcterms:created xsi:type="dcterms:W3CDTF">2006-08-16T00:00:00Z</dcterms:created>
  <dcterms:modified xsi:type="dcterms:W3CDTF">2026-08-03T03:22:23Z</dcterms:modified>
  <dc:identifier>DAHQ1_bSIv4</dc:identifier>
</cp:coreProperties>
</file>