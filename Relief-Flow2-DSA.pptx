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embeddedFontLst>
    <p:embeddedFont>
      <p:font typeface="Prata" panose="020B0604020202020204" charset="0"/>
      <p:regular r:id="rId14"/>
    </p:embeddedFont>
    <p:embeddedFont>
      <p:font typeface="Raleway" pitchFamily="2"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6576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B1C1D"/>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790328"/>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Relief Flow - Review 2</a:t>
            </a:r>
            <a:endParaRPr lang="en-US" sz="2750" dirty="0"/>
          </a:p>
        </p:txBody>
      </p:sp>
      <p:sp>
        <p:nvSpPr>
          <p:cNvPr id="4" name="Text 1"/>
          <p:cNvSpPr/>
          <p:nvPr/>
        </p:nvSpPr>
        <p:spPr>
          <a:xfrm>
            <a:off x="496119" y="2445916"/>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During natural disasters (floods, earthquakes), emergency helplines and social media channels are flooded with frantic text messages. Traditional dispatch systems fail to quickly extract location/urgency details, identify bottlenecked roads, and assign limited relief supplies optimally.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88225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Agenda</a:t>
            </a:r>
            <a:endParaRPr lang="en-US" sz="2750" dirty="0"/>
          </a:p>
        </p:txBody>
      </p:sp>
      <p:sp>
        <p:nvSpPr>
          <p:cNvPr id="3" name="Shape 1"/>
          <p:cNvSpPr/>
          <p:nvPr/>
        </p:nvSpPr>
        <p:spPr>
          <a:xfrm>
            <a:off x="496119" y="1608758"/>
            <a:ext cx="318939" cy="318939"/>
          </a:xfrm>
          <a:prstGeom prst="roundRect">
            <a:avLst>
              <a:gd name="adj" fmla="val 6667"/>
            </a:avLst>
          </a:prstGeom>
          <a:solidFill>
            <a:srgbClr val="3A3B3C"/>
          </a:solidFill>
          <a:ln/>
        </p:spPr>
      </p:sp>
      <p:sp>
        <p:nvSpPr>
          <p:cNvPr id="4" name="Text 2"/>
          <p:cNvSpPr/>
          <p:nvPr/>
        </p:nvSpPr>
        <p:spPr>
          <a:xfrm>
            <a:off x="549287" y="1635323"/>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CFCBBF"/>
                </a:solidFill>
                <a:latin typeface="Prata" pitchFamily="34" charset="0"/>
                <a:ea typeface="Prata" pitchFamily="34" charset="-122"/>
                <a:cs typeface="Prata" pitchFamily="34" charset="-120"/>
              </a:rPr>
              <a:t>1</a:t>
            </a:r>
            <a:endParaRPr lang="en-US" sz="1650" dirty="0"/>
          </a:p>
        </p:txBody>
      </p:sp>
      <p:sp>
        <p:nvSpPr>
          <p:cNvPr id="5" name="Text 3"/>
          <p:cNvSpPr/>
          <p:nvPr/>
        </p:nvSpPr>
        <p:spPr>
          <a:xfrm>
            <a:off x="956816" y="1657424"/>
            <a:ext cx="7691065"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Literature Review</a:t>
            </a:r>
            <a:endParaRPr lang="en-US" sz="1350" dirty="0"/>
          </a:p>
        </p:txBody>
      </p:sp>
      <p:sp>
        <p:nvSpPr>
          <p:cNvPr id="6" name="Text 4"/>
          <p:cNvSpPr/>
          <p:nvPr/>
        </p:nvSpPr>
        <p:spPr>
          <a:xfrm>
            <a:off x="956816" y="1963936"/>
            <a:ext cx="7691065" cy="226814"/>
          </a:xfrm>
          <a:prstGeom prst="rect">
            <a:avLst/>
          </a:prstGeom>
          <a:noFill/>
          <a:ln/>
        </p:spPr>
        <p:txBody>
          <a:bodyPr wrap="none" lIns="0" tIns="0" rIns="0" bIns="0" rtlCol="0" anchor="t"/>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Three problem classes and seminal methods</a:t>
            </a:r>
            <a:endParaRPr lang="en-US" sz="1100" dirty="0"/>
          </a:p>
        </p:txBody>
      </p:sp>
      <p:sp>
        <p:nvSpPr>
          <p:cNvPr id="7" name="Shape 5"/>
          <p:cNvSpPr/>
          <p:nvPr/>
        </p:nvSpPr>
        <p:spPr>
          <a:xfrm>
            <a:off x="496119" y="2474268"/>
            <a:ext cx="318939" cy="318939"/>
          </a:xfrm>
          <a:prstGeom prst="roundRect">
            <a:avLst>
              <a:gd name="adj" fmla="val 6667"/>
            </a:avLst>
          </a:prstGeom>
          <a:solidFill>
            <a:srgbClr val="3A3B3C"/>
          </a:solidFill>
          <a:ln/>
        </p:spPr>
      </p:sp>
      <p:sp>
        <p:nvSpPr>
          <p:cNvPr id="8" name="Text 6"/>
          <p:cNvSpPr/>
          <p:nvPr/>
        </p:nvSpPr>
        <p:spPr>
          <a:xfrm>
            <a:off x="549287" y="2500833"/>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CFCBBF"/>
                </a:solidFill>
                <a:latin typeface="Prata" pitchFamily="34" charset="0"/>
                <a:ea typeface="Prata" pitchFamily="34" charset="-122"/>
                <a:cs typeface="Prata" pitchFamily="34" charset="-120"/>
              </a:rPr>
              <a:t>2</a:t>
            </a:r>
            <a:endParaRPr lang="en-US" sz="1650" dirty="0"/>
          </a:p>
        </p:txBody>
      </p:sp>
      <p:sp>
        <p:nvSpPr>
          <p:cNvPr id="9" name="Text 7"/>
          <p:cNvSpPr/>
          <p:nvPr/>
        </p:nvSpPr>
        <p:spPr>
          <a:xfrm>
            <a:off x="956816" y="2522934"/>
            <a:ext cx="7691065"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Comparative Analysis</a:t>
            </a:r>
            <a:endParaRPr lang="en-US" sz="1350" dirty="0"/>
          </a:p>
        </p:txBody>
      </p:sp>
      <p:sp>
        <p:nvSpPr>
          <p:cNvPr id="10" name="Text 8"/>
          <p:cNvSpPr/>
          <p:nvPr/>
        </p:nvSpPr>
        <p:spPr>
          <a:xfrm>
            <a:off x="956816" y="2829446"/>
            <a:ext cx="7691065" cy="226814"/>
          </a:xfrm>
          <a:prstGeom prst="rect">
            <a:avLst/>
          </a:prstGeom>
          <a:noFill/>
          <a:ln/>
        </p:spPr>
        <p:txBody>
          <a:bodyPr wrap="none" lIns="0" tIns="0" rIns="0" bIns="0" rtlCol="0" anchor="t"/>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Gaps, strengths, and algorithmic trade-offs</a:t>
            </a:r>
            <a:endParaRPr lang="en-US" sz="1100" dirty="0"/>
          </a:p>
        </p:txBody>
      </p:sp>
      <p:sp>
        <p:nvSpPr>
          <p:cNvPr id="11" name="Shape 9"/>
          <p:cNvSpPr/>
          <p:nvPr/>
        </p:nvSpPr>
        <p:spPr>
          <a:xfrm>
            <a:off x="496119" y="3339778"/>
            <a:ext cx="318939" cy="318939"/>
          </a:xfrm>
          <a:prstGeom prst="roundRect">
            <a:avLst>
              <a:gd name="adj" fmla="val 6667"/>
            </a:avLst>
          </a:prstGeom>
          <a:solidFill>
            <a:srgbClr val="3A3B3C"/>
          </a:solidFill>
          <a:ln/>
        </p:spPr>
      </p:sp>
      <p:sp>
        <p:nvSpPr>
          <p:cNvPr id="12" name="Text 10"/>
          <p:cNvSpPr/>
          <p:nvPr/>
        </p:nvSpPr>
        <p:spPr>
          <a:xfrm>
            <a:off x="549287" y="3366343"/>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CFCBBF"/>
                </a:solidFill>
                <a:latin typeface="Prata" pitchFamily="34" charset="0"/>
                <a:ea typeface="Prata" pitchFamily="34" charset="-122"/>
                <a:cs typeface="Prata" pitchFamily="34" charset="-120"/>
              </a:rPr>
              <a:t>3</a:t>
            </a:r>
            <a:endParaRPr lang="en-US" sz="1650" dirty="0"/>
          </a:p>
        </p:txBody>
      </p:sp>
      <p:sp>
        <p:nvSpPr>
          <p:cNvPr id="13" name="Text 11"/>
          <p:cNvSpPr/>
          <p:nvPr/>
        </p:nvSpPr>
        <p:spPr>
          <a:xfrm>
            <a:off x="956816" y="3388444"/>
            <a:ext cx="7691065"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Conclusion </a:t>
            </a:r>
            <a:endParaRPr lang="en-US" sz="1350" dirty="0"/>
          </a:p>
        </p:txBody>
      </p:sp>
      <p:sp>
        <p:nvSpPr>
          <p:cNvPr id="14" name="Shape 12"/>
          <p:cNvSpPr/>
          <p:nvPr/>
        </p:nvSpPr>
        <p:spPr>
          <a:xfrm>
            <a:off x="496119" y="3942234"/>
            <a:ext cx="318939" cy="318939"/>
          </a:xfrm>
          <a:prstGeom prst="roundRect">
            <a:avLst>
              <a:gd name="adj" fmla="val 6667"/>
            </a:avLst>
          </a:prstGeom>
          <a:solidFill>
            <a:srgbClr val="3A3B3C"/>
          </a:solidFill>
          <a:ln/>
        </p:spPr>
      </p:sp>
      <p:sp>
        <p:nvSpPr>
          <p:cNvPr id="15" name="Text 13"/>
          <p:cNvSpPr/>
          <p:nvPr/>
        </p:nvSpPr>
        <p:spPr>
          <a:xfrm>
            <a:off x="549287" y="3968800"/>
            <a:ext cx="212601" cy="265807"/>
          </a:xfrm>
          <a:prstGeom prst="rect">
            <a:avLst/>
          </a:prstGeom>
          <a:noFill/>
          <a:ln/>
        </p:spPr>
        <p:txBody>
          <a:bodyPr wrap="none" lIns="0" tIns="0" rIns="0" bIns="0" rtlCol="0" anchor="ctr"/>
          <a:lstStyle/>
          <a:p>
            <a:pPr marL="0" indent="0" algn="ctr">
              <a:lnSpc>
                <a:spcPct val="100000"/>
              </a:lnSpc>
              <a:buNone/>
            </a:pPr>
            <a:r>
              <a:rPr lang="en-US" sz="1650" dirty="0">
                <a:solidFill>
                  <a:srgbClr val="CFCBBF"/>
                </a:solidFill>
                <a:latin typeface="Prata" pitchFamily="34" charset="0"/>
                <a:ea typeface="Prata" pitchFamily="34" charset="-122"/>
                <a:cs typeface="Prata" pitchFamily="34" charset="-120"/>
              </a:rPr>
              <a:t>4</a:t>
            </a:r>
            <a:endParaRPr lang="en-US" sz="1650" dirty="0"/>
          </a:p>
        </p:txBody>
      </p:sp>
      <p:sp>
        <p:nvSpPr>
          <p:cNvPr id="16" name="Text 14"/>
          <p:cNvSpPr/>
          <p:nvPr/>
        </p:nvSpPr>
        <p:spPr>
          <a:xfrm>
            <a:off x="956816" y="3990901"/>
            <a:ext cx="7691065"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References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819373"/>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1. Core Contributions of Goldberg, Tardos &amp; Tarjan </a:t>
            </a:r>
            <a:endParaRPr lang="en-US" sz="2750" dirty="0"/>
          </a:p>
        </p:txBody>
      </p:sp>
      <p:sp>
        <p:nvSpPr>
          <p:cNvPr id="4" name="Text 1"/>
          <p:cNvSpPr/>
          <p:nvPr/>
        </p:nvSpPr>
        <p:spPr>
          <a:xfrm>
            <a:off x="496119" y="2360935"/>
            <a:ext cx="4722763" cy="1963192"/>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Push–relabel framework: localized operations leading to strongly polynomial bounds for many instances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Capacity/cost scaling: multi-level refinement to accelerate convergence for min-cost problems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Dynamic trees: data-structure acceleration for repeated augmentations and path operations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Systematic complexity analysis: polynomial vs strongly polynomial algorithm distinctions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233934"/>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Comparative Strengths — Algorithmic &amp; Data-Structure Insights</a:t>
            </a:r>
            <a:endParaRPr lang="en-US" sz="2750" dirty="0"/>
          </a:p>
        </p:txBody>
      </p:sp>
      <p:sp>
        <p:nvSpPr>
          <p:cNvPr id="4" name="Text 1"/>
          <p:cNvSpPr/>
          <p:nvPr/>
        </p:nvSpPr>
        <p:spPr>
          <a:xfrm>
            <a:off x="496119" y="2775496"/>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 The paper unites algorithm design with data-structure engineering: push–relabel for locality and parallel potential, scaling strategies to bound work per phase, and dynamic trees to collapse repeated path costs. These choices yield provable complexity improvements and practical speedups on structured inputs.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1203871"/>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Identified Research Gaps (Theory → Practice)</a:t>
            </a:r>
            <a:endParaRPr lang="en-US" sz="2750" dirty="0"/>
          </a:p>
        </p:txBody>
      </p:sp>
      <p:sp>
        <p:nvSpPr>
          <p:cNvPr id="3" name="Text 1"/>
          <p:cNvSpPr/>
          <p:nvPr/>
        </p:nvSpPr>
        <p:spPr>
          <a:xfrm>
            <a:off x="496119" y="1930375"/>
            <a:ext cx="8151763" cy="1055936"/>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Limited experimental validation on modern, large-scale benchmarks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Frameworks assume static networks — inadequate for time-varying or disrupted infrastructures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Sparse treatment of parallel, distributed, or GPU-accelerated implementations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Minimal integration with data-driven or ML-assisted heuristics for prediction and warm-starting</a:t>
            </a:r>
            <a:endParaRPr lang="en-US" sz="1100" dirty="0"/>
          </a:p>
        </p:txBody>
      </p:sp>
      <p:sp>
        <p:nvSpPr>
          <p:cNvPr id="4" name="Shape 2"/>
          <p:cNvSpPr/>
          <p:nvPr/>
        </p:nvSpPr>
        <p:spPr>
          <a:xfrm>
            <a:off x="496119" y="3145780"/>
            <a:ext cx="8151763" cy="793775"/>
          </a:xfrm>
          <a:prstGeom prst="roundRect">
            <a:avLst>
              <a:gd name="adj" fmla="val 2679"/>
            </a:avLst>
          </a:prstGeom>
          <a:solidFill>
            <a:srgbClr val="71660F"/>
          </a:solidFill>
          <a:ln/>
        </p:spPr>
      </p:sp>
      <p:pic>
        <p:nvPicPr>
          <p:cNvPr id="5" name="Image 0" descr="preencoded.png"/>
          <p:cNvPicPr>
            <a:picLocks noChangeAspect="1"/>
          </p:cNvPicPr>
          <p:nvPr/>
        </p:nvPicPr>
        <p:blipFill>
          <a:blip r:embed="rId3"/>
          <a:stretch>
            <a:fillRect/>
          </a:stretch>
        </p:blipFill>
        <p:spPr>
          <a:xfrm>
            <a:off x="637877" y="3346549"/>
            <a:ext cx="177180" cy="141759"/>
          </a:xfrm>
          <a:prstGeom prst="rect">
            <a:avLst/>
          </a:prstGeom>
        </p:spPr>
      </p:pic>
      <p:sp>
        <p:nvSpPr>
          <p:cNvPr id="6" name="Text 3"/>
          <p:cNvSpPr/>
          <p:nvPr/>
        </p:nvSpPr>
        <p:spPr>
          <a:xfrm>
            <a:off x="956816" y="3322960"/>
            <a:ext cx="7549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FFFFFF"/>
                </a:solidFill>
                <a:latin typeface="Raleway" pitchFamily="34" charset="0"/>
                <a:ea typeface="Raleway" pitchFamily="34" charset="-122"/>
                <a:cs typeface="Raleway" pitchFamily="34" charset="-120"/>
              </a:rPr>
              <a:t>Addressing these gaps is critical to deploy flow algorithms in real-world, time-sensitive domains such as disaster response.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465883"/>
            <a:ext cx="3902943" cy="2211660"/>
          </a:xfrm>
          <a:prstGeom prst="rect">
            <a:avLst/>
          </a:prstGeom>
        </p:spPr>
      </p:pic>
      <p:sp>
        <p:nvSpPr>
          <p:cNvPr id="3" name="Text 0"/>
          <p:cNvSpPr/>
          <p:nvPr/>
        </p:nvSpPr>
        <p:spPr>
          <a:xfrm>
            <a:off x="4749701" y="945207"/>
            <a:ext cx="3902943"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F2E782"/>
                </a:solidFill>
                <a:latin typeface="Prata" pitchFamily="34" charset="0"/>
                <a:ea typeface="Prata" pitchFamily="34" charset="-122"/>
                <a:cs typeface="Prata" pitchFamily="34" charset="-120"/>
              </a:rPr>
              <a:t>2. Application: Relief Distribution Optimization</a:t>
            </a:r>
            <a:endParaRPr lang="en-US" sz="2200" dirty="0"/>
          </a:p>
        </p:txBody>
      </p:sp>
      <p:sp>
        <p:nvSpPr>
          <p:cNvPr id="4" name="Text 1"/>
          <p:cNvSpPr/>
          <p:nvPr/>
        </p:nvSpPr>
        <p:spPr>
          <a:xfrm>
            <a:off x="4749701" y="1795686"/>
            <a:ext cx="390294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         Multi-Commodity Network Flow Optimization Model (NFOM) paired with Demand Shortage Clearance Model (DSCM). Objectives: minimize transport cost and worst-case demand gap while mapping vehicle requirements and routes under probabilistic road failures.       </a:t>
            </a:r>
            <a:endParaRPr lang="en-US" sz="1100" dirty="0"/>
          </a:p>
        </p:txBody>
      </p:sp>
      <p:sp>
        <p:nvSpPr>
          <p:cNvPr id="5" name="Text 2"/>
          <p:cNvSpPr/>
          <p:nvPr/>
        </p:nvSpPr>
        <p:spPr>
          <a:xfrm>
            <a:off x="4749701" y="3057302"/>
            <a:ext cx="3902943" cy="1233190"/>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Supply regions (RES) </a:t>
            </a:r>
            <a:r>
              <a:rPr lang="en-US" sz="1100" dirty="0">
                <a:solidFill>
                  <a:srgbClr val="000000"/>
                </a:solidFill>
                <a:latin typeface="Raleway" pitchFamily="34" charset="0"/>
                <a:ea typeface="Raleway" pitchFamily="34" charset="-122"/>
                <a:cs typeface="Raleway" pitchFamily="34" charset="-120"/>
              </a:rPr>
              <a:t>↔</a:t>
            </a:r>
            <a:r>
              <a:rPr lang="en-US" sz="1100" dirty="0">
                <a:solidFill>
                  <a:srgbClr val="CFCBBF"/>
                </a:solidFill>
                <a:latin typeface="Raleway" pitchFamily="34" charset="0"/>
                <a:ea typeface="Raleway" pitchFamily="34" charset="-122"/>
                <a:cs typeface="Raleway" pitchFamily="34" charset="-120"/>
              </a:rPr>
              <a:t> demand regions (RED)</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Stochastic road failure simulations inform route feasibility</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Multi-objective trade-off: cost vs maximum demand shortfall</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135633"/>
            <a:ext cx="3478039" cy="2064246"/>
          </a:xfrm>
          <a:prstGeom prst="rect">
            <a:avLst/>
          </a:prstGeom>
        </p:spPr>
      </p:pic>
      <p:sp>
        <p:nvSpPr>
          <p:cNvPr id="3" name="Text 0"/>
          <p:cNvSpPr/>
          <p:nvPr/>
        </p:nvSpPr>
        <p:spPr>
          <a:xfrm>
            <a:off x="2916892" y="2637791"/>
            <a:ext cx="864569" cy="333096"/>
          </a:xfrm>
          <a:prstGeom prst="rect">
            <a:avLst/>
          </a:prstGeom>
          <a:noFill/>
          <a:ln/>
        </p:spPr>
        <p:txBody>
          <a:bodyPr wrap="square" lIns="0" tIns="0" rIns="0" bIns="0" rtlCol="0" anchor="t">
            <a:normAutofit/>
          </a:bodyPr>
          <a:lstStyle/>
          <a:p>
            <a:pPr marL="0" indent="0" algn="ctr">
              <a:lnSpc>
                <a:spcPct val="104000"/>
              </a:lnSpc>
              <a:buNone/>
            </a:pPr>
            <a:r>
              <a:rPr lang="en-US" sz="1000" dirty="0">
                <a:solidFill>
                  <a:srgbClr val="CFCBBF"/>
                </a:solidFill>
                <a:latin typeface="Prata" pitchFamily="34" charset="0"/>
                <a:ea typeface="Prata" pitchFamily="34" charset="-122"/>
                <a:cs typeface="Prata" pitchFamily="34" charset="-120"/>
              </a:rPr>
              <a:t>Simulate &amp; Iterate</a:t>
            </a:r>
            <a:endParaRPr lang="en-US" sz="1000" dirty="0"/>
          </a:p>
        </p:txBody>
      </p:sp>
      <p:sp>
        <p:nvSpPr>
          <p:cNvPr id="4" name="Text 1"/>
          <p:cNvSpPr/>
          <p:nvPr/>
        </p:nvSpPr>
        <p:spPr>
          <a:xfrm>
            <a:off x="1827298" y="2637791"/>
            <a:ext cx="864569" cy="333096"/>
          </a:xfrm>
          <a:prstGeom prst="rect">
            <a:avLst/>
          </a:prstGeom>
          <a:noFill/>
          <a:ln/>
        </p:spPr>
        <p:txBody>
          <a:bodyPr wrap="square" lIns="0" tIns="0" rIns="0" bIns="0" rtlCol="0" anchor="t">
            <a:normAutofit/>
          </a:bodyPr>
          <a:lstStyle/>
          <a:p>
            <a:pPr marL="0" indent="0" algn="ctr">
              <a:lnSpc>
                <a:spcPct val="104000"/>
              </a:lnSpc>
              <a:buNone/>
            </a:pPr>
            <a:r>
              <a:rPr lang="en-US" sz="1000" dirty="0">
                <a:solidFill>
                  <a:srgbClr val="CFCBBF"/>
                </a:solidFill>
                <a:latin typeface="Prata" pitchFamily="34" charset="0"/>
                <a:ea typeface="Prata" pitchFamily="34" charset="-122"/>
                <a:cs typeface="Prata" pitchFamily="34" charset="-120"/>
              </a:rPr>
              <a:t>Integrate DSCM</a:t>
            </a:r>
            <a:endParaRPr lang="en-US" sz="1000" dirty="0"/>
          </a:p>
        </p:txBody>
      </p:sp>
      <p:sp>
        <p:nvSpPr>
          <p:cNvPr id="5" name="Text 2"/>
          <p:cNvSpPr/>
          <p:nvPr/>
        </p:nvSpPr>
        <p:spPr>
          <a:xfrm>
            <a:off x="719939" y="2637791"/>
            <a:ext cx="864569" cy="333096"/>
          </a:xfrm>
          <a:prstGeom prst="rect">
            <a:avLst/>
          </a:prstGeom>
          <a:noFill/>
          <a:ln/>
        </p:spPr>
        <p:txBody>
          <a:bodyPr wrap="square" lIns="0" tIns="0" rIns="0" bIns="0" rtlCol="0" anchor="t">
            <a:normAutofit/>
          </a:bodyPr>
          <a:lstStyle/>
          <a:p>
            <a:pPr marL="0" indent="0" algn="ctr">
              <a:lnSpc>
                <a:spcPct val="104000"/>
              </a:lnSpc>
              <a:buNone/>
            </a:pPr>
            <a:r>
              <a:rPr lang="en-US" sz="1000" dirty="0">
                <a:solidFill>
                  <a:srgbClr val="CFCBBF"/>
                </a:solidFill>
                <a:latin typeface="Prata" pitchFamily="34" charset="0"/>
                <a:ea typeface="Prata" pitchFamily="34" charset="-122"/>
                <a:cs typeface="Prata" pitchFamily="34" charset="-120"/>
              </a:rPr>
              <a:t>Formulate NFOM</a:t>
            </a:r>
            <a:endParaRPr lang="en-US" sz="1000" dirty="0"/>
          </a:p>
        </p:txBody>
      </p:sp>
      <p:sp>
        <p:nvSpPr>
          <p:cNvPr id="6" name="Text 3"/>
          <p:cNvSpPr/>
          <p:nvPr/>
        </p:nvSpPr>
        <p:spPr>
          <a:xfrm>
            <a:off x="496119" y="3359348"/>
            <a:ext cx="3478039"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The diagram summarizes the methodological pipeline used to adapt classical flow models for disrupted humanitarian contexts.</a:t>
            </a:r>
            <a:endParaRPr lang="en-US" sz="1100" dirty="0"/>
          </a:p>
        </p:txBody>
      </p:sp>
      <p:sp>
        <p:nvSpPr>
          <p:cNvPr id="7" name="Text 4"/>
          <p:cNvSpPr/>
          <p:nvPr/>
        </p:nvSpPr>
        <p:spPr>
          <a:xfrm>
            <a:off x="4324796" y="1639788"/>
            <a:ext cx="4327773" cy="354360"/>
          </a:xfrm>
          <a:prstGeom prst="rect">
            <a:avLst/>
          </a:prstGeom>
          <a:noFill/>
          <a:ln/>
        </p:spPr>
        <p:txBody>
          <a:bodyPr wrap="none" lIns="0" tIns="0" rIns="0" bIns="0" rtlCol="0" anchor="t"/>
          <a:lstStyle/>
          <a:p>
            <a:pPr marL="0" indent="0" algn="l">
              <a:lnSpc>
                <a:spcPct val="104000"/>
              </a:lnSpc>
              <a:buNone/>
            </a:pPr>
            <a:r>
              <a:rPr lang="en-US" sz="2200" dirty="0">
                <a:solidFill>
                  <a:srgbClr val="F2E782"/>
                </a:solidFill>
                <a:latin typeface="Prata" pitchFamily="34" charset="0"/>
                <a:ea typeface="Prata" pitchFamily="34" charset="-122"/>
                <a:cs typeface="Prata" pitchFamily="34" charset="-120"/>
              </a:rPr>
              <a:t>Limitations &amp; Opportunities</a:t>
            </a:r>
            <a:endParaRPr lang="en-US" sz="2200" dirty="0"/>
          </a:p>
        </p:txBody>
      </p:sp>
      <p:sp>
        <p:nvSpPr>
          <p:cNvPr id="8" name="Text 5"/>
          <p:cNvSpPr/>
          <p:nvPr/>
        </p:nvSpPr>
        <p:spPr>
          <a:xfrm>
            <a:off x="4324796" y="2135907"/>
            <a:ext cx="4327773" cy="146000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NFOM/DSCM do not capture real-time network dynamics or asset reallocation under unfolding events</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Assumptions on capacities, speeds, and demands reduce fidelity</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Opportunities: online routing, ML demand forecasts, and scalable parallel solvers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96119" y="1465883"/>
            <a:ext cx="3902943" cy="2211660"/>
          </a:xfrm>
          <a:prstGeom prst="rect">
            <a:avLst/>
          </a:prstGeom>
        </p:spPr>
      </p:pic>
      <p:sp>
        <p:nvSpPr>
          <p:cNvPr id="3" name="Text 0"/>
          <p:cNvSpPr/>
          <p:nvPr/>
        </p:nvSpPr>
        <p:spPr>
          <a:xfrm>
            <a:off x="4749701" y="945207"/>
            <a:ext cx="3902943"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F2E782"/>
                </a:solidFill>
                <a:latin typeface="Prata" pitchFamily="34" charset="0"/>
                <a:ea typeface="Prata" pitchFamily="34" charset="-122"/>
                <a:cs typeface="Prata" pitchFamily="34" charset="-120"/>
              </a:rPr>
              <a:t>3. Application: Ambulance Dispatch Optimization</a:t>
            </a:r>
            <a:endParaRPr lang="en-US" sz="2200" dirty="0"/>
          </a:p>
        </p:txBody>
      </p:sp>
      <p:sp>
        <p:nvSpPr>
          <p:cNvPr id="4" name="Text 1"/>
          <p:cNvSpPr/>
          <p:nvPr/>
        </p:nvSpPr>
        <p:spPr>
          <a:xfrm>
            <a:off x="4749701" y="1795686"/>
            <a:ext cx="390294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         Stochastic optimization with two policy classes: Static Dispatch Control (SDC) for deterministic baseline and Dynamic Dispatch Control (DDC) that adapts dispatch probabilities using observed demand deviations.       </a:t>
            </a:r>
            <a:endParaRPr lang="en-US" sz="1100" dirty="0"/>
          </a:p>
        </p:txBody>
      </p:sp>
      <p:sp>
        <p:nvSpPr>
          <p:cNvPr id="5" name="Text 2"/>
          <p:cNvSpPr/>
          <p:nvPr/>
        </p:nvSpPr>
        <p:spPr>
          <a:xfrm>
            <a:off x="4749701" y="2830488"/>
            <a:ext cx="3902943" cy="1460004"/>
          </a:xfrm>
          <a:prstGeom prst="rect">
            <a:avLst/>
          </a:prstGeom>
          <a:noFill/>
          <a:ln/>
        </p:spPr>
        <p:txBody>
          <a:bodyPr wrap="square" lIns="0" tIns="56707" rIns="0" bIns="0" rtlCol="0" anchor="t">
            <a:normAutofit/>
          </a:bodyPr>
          <a:lstStyle/>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Handles nonstationary and high-variance demand</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Theoretical performance guarantees supported by simulation</a:t>
            </a:r>
            <a:endParaRPr lang="en-US" sz="1100" dirty="0"/>
          </a:p>
          <a:p>
            <a:pPr marL="223520" indent="-223520" algn="l">
              <a:lnSpc>
                <a:spcPct val="133000"/>
              </a:lnSpc>
              <a:buSzPct val="100000"/>
              <a:buChar char="•"/>
            </a:pPr>
            <a:r>
              <a:rPr lang="en-US" sz="1100" dirty="0">
                <a:solidFill>
                  <a:srgbClr val="CFCBBF"/>
                </a:solidFill>
                <a:latin typeface="Raleway" pitchFamily="34" charset="0"/>
                <a:ea typeface="Raleway" pitchFamily="34" charset="-122"/>
                <a:cs typeface="Raleway" pitchFamily="34" charset="-120"/>
              </a:rPr>
              <a:t>Gaps: simplified traffic/geo models, limited large-scale real-data validation, and extra computational burden for DDC</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709017"/>
            <a:ext cx="8151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Limitations &amp; Opportunities in Ambulance Dispatch</a:t>
            </a:r>
            <a:endParaRPr lang="en-US" sz="2750" dirty="0"/>
          </a:p>
        </p:txBody>
      </p:sp>
      <p:sp>
        <p:nvSpPr>
          <p:cNvPr id="3" name="Text 1"/>
          <p:cNvSpPr/>
          <p:nvPr/>
        </p:nvSpPr>
        <p:spPr>
          <a:xfrm>
            <a:off x="496119" y="1878509"/>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While the DDC model offers theoretical performance guarantees, several practical challenges and areas for improvement exist for real-world deployment:</a:t>
            </a:r>
            <a:endParaRPr lang="en-US" sz="1100" dirty="0"/>
          </a:p>
        </p:txBody>
      </p:sp>
      <p:sp>
        <p:nvSpPr>
          <p:cNvPr id="4" name="Shape 2"/>
          <p:cNvSpPr/>
          <p:nvPr/>
        </p:nvSpPr>
        <p:spPr>
          <a:xfrm>
            <a:off x="496119" y="2491606"/>
            <a:ext cx="318939" cy="318939"/>
          </a:xfrm>
          <a:prstGeom prst="roundRect">
            <a:avLst>
              <a:gd name="adj" fmla="val 6667"/>
            </a:avLst>
          </a:prstGeom>
          <a:solidFill>
            <a:srgbClr val="3A3B3C"/>
          </a:solidFill>
          <a:ln/>
        </p:spPr>
      </p:sp>
      <p:sp>
        <p:nvSpPr>
          <p:cNvPr id="5" name="Text 3"/>
          <p:cNvSpPr/>
          <p:nvPr/>
        </p:nvSpPr>
        <p:spPr>
          <a:xfrm>
            <a:off x="956816" y="2540273"/>
            <a:ext cx="2138437"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Simplified Models</a:t>
            </a:r>
            <a:endParaRPr lang="en-US" sz="1350" dirty="0"/>
          </a:p>
        </p:txBody>
      </p:sp>
      <p:sp>
        <p:nvSpPr>
          <p:cNvPr id="6" name="Text 4"/>
          <p:cNvSpPr/>
          <p:nvPr/>
        </p:nvSpPr>
        <p:spPr>
          <a:xfrm>
            <a:off x="956816" y="2846784"/>
            <a:ext cx="2138437" cy="158769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Experiments primarily use synthetic or simplified EMS configurations, often omitting real-world complexities like dynamic traffic, hospital availability, road conditions, and geographic constraints.</a:t>
            </a:r>
            <a:endParaRPr lang="en-US" sz="1100" dirty="0"/>
          </a:p>
        </p:txBody>
      </p:sp>
      <p:sp>
        <p:nvSpPr>
          <p:cNvPr id="7" name="Shape 5"/>
          <p:cNvSpPr/>
          <p:nvPr/>
        </p:nvSpPr>
        <p:spPr>
          <a:xfrm>
            <a:off x="3272433" y="2491606"/>
            <a:ext cx="318939" cy="318939"/>
          </a:xfrm>
          <a:prstGeom prst="roundRect">
            <a:avLst>
              <a:gd name="adj" fmla="val 6667"/>
            </a:avLst>
          </a:prstGeom>
          <a:solidFill>
            <a:srgbClr val="3A3B3C"/>
          </a:solidFill>
          <a:ln/>
        </p:spPr>
      </p:sp>
      <p:sp>
        <p:nvSpPr>
          <p:cNvPr id="8" name="Text 6"/>
          <p:cNvSpPr/>
          <p:nvPr/>
        </p:nvSpPr>
        <p:spPr>
          <a:xfrm>
            <a:off x="3733130" y="2540273"/>
            <a:ext cx="2138437"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Computational Burden</a:t>
            </a:r>
            <a:endParaRPr lang="en-US" sz="1350" dirty="0"/>
          </a:p>
        </p:txBody>
      </p:sp>
      <p:sp>
        <p:nvSpPr>
          <p:cNvPr id="9" name="Text 7"/>
          <p:cNvSpPr/>
          <p:nvPr/>
        </p:nvSpPr>
        <p:spPr>
          <a:xfrm>
            <a:off x="3733130" y="2846784"/>
            <a:ext cx="2138437"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Dynamic Dispatch Control (DDC) introduces significant computational complexity, requiring careful parameter tuning and efficient algorithms for real-time application.</a:t>
            </a:r>
            <a:endParaRPr lang="en-US" sz="1100" dirty="0"/>
          </a:p>
        </p:txBody>
      </p:sp>
      <p:sp>
        <p:nvSpPr>
          <p:cNvPr id="10" name="Shape 8"/>
          <p:cNvSpPr/>
          <p:nvPr/>
        </p:nvSpPr>
        <p:spPr>
          <a:xfrm>
            <a:off x="6048747" y="2491606"/>
            <a:ext cx="318939" cy="318939"/>
          </a:xfrm>
          <a:prstGeom prst="roundRect">
            <a:avLst>
              <a:gd name="adj" fmla="val 6667"/>
            </a:avLst>
          </a:prstGeom>
          <a:solidFill>
            <a:srgbClr val="3A3B3C"/>
          </a:solidFill>
          <a:ln/>
        </p:spPr>
      </p:sp>
      <p:sp>
        <p:nvSpPr>
          <p:cNvPr id="11" name="Text 9"/>
          <p:cNvSpPr/>
          <p:nvPr/>
        </p:nvSpPr>
        <p:spPr>
          <a:xfrm>
            <a:off x="6509445" y="2540273"/>
            <a:ext cx="2138437" cy="221456"/>
          </a:xfrm>
          <a:prstGeom prst="rect">
            <a:avLst/>
          </a:prstGeom>
          <a:noFill/>
          <a:ln/>
        </p:spPr>
        <p:txBody>
          <a:bodyPr wrap="none" lIns="0" tIns="0" rIns="0" bIns="0" rtlCol="0" anchor="t"/>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Data Validation</a:t>
            </a:r>
            <a:endParaRPr lang="en-US" sz="1350" dirty="0"/>
          </a:p>
        </p:txBody>
      </p:sp>
      <p:sp>
        <p:nvSpPr>
          <p:cNvPr id="12" name="Text 10"/>
          <p:cNvSpPr/>
          <p:nvPr/>
        </p:nvSpPr>
        <p:spPr>
          <a:xfrm>
            <a:off x="6509445" y="2846784"/>
            <a:ext cx="2138437"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There is limited validation using large-scale, real-time ambulance datasets, which are crucial for assessing the model's performance in varied operational environments.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05160"/>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F2E782"/>
                </a:solidFill>
                <a:latin typeface="Prata" pitchFamily="34" charset="0"/>
                <a:ea typeface="Prata" pitchFamily="34" charset="-122"/>
                <a:cs typeface="Prata" pitchFamily="34" charset="-120"/>
              </a:rPr>
              <a:t>Emerging Solutions &amp; Future Directions</a:t>
            </a:r>
            <a:endParaRPr lang="en-US" sz="2750" dirty="0"/>
          </a:p>
        </p:txBody>
      </p:sp>
      <p:sp>
        <p:nvSpPr>
          <p:cNvPr id="3" name="Text 1"/>
          <p:cNvSpPr/>
          <p:nvPr/>
        </p:nvSpPr>
        <p:spPr>
          <a:xfrm>
            <a:off x="496119" y="1531665"/>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Addressing the identified gaps requires innovative approaches that leverage dynamic modeling, advanced AI, and robust data infrastructure.</a:t>
            </a:r>
            <a:endParaRPr lang="en-US" sz="11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144762"/>
            <a:ext cx="354360" cy="354360"/>
          </a:xfrm>
          <a:prstGeom prst="rect">
            <a:avLst/>
          </a:prstGeom>
        </p:spPr>
      </p:pic>
      <p:sp>
        <p:nvSpPr>
          <p:cNvPr id="5" name="Text 2"/>
          <p:cNvSpPr/>
          <p:nvPr/>
        </p:nvSpPr>
        <p:spPr>
          <a:xfrm>
            <a:off x="496119" y="2676302"/>
            <a:ext cx="259913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Time-Expanded Dynamic Graph Routing</a:t>
            </a:r>
            <a:endParaRPr lang="en-US" sz="1350" dirty="0"/>
          </a:p>
        </p:txBody>
      </p:sp>
      <p:sp>
        <p:nvSpPr>
          <p:cNvPr id="6" name="Text 3"/>
          <p:cNvSpPr/>
          <p:nvPr/>
        </p:nvSpPr>
        <p:spPr>
          <a:xfrm>
            <a:off x="496119" y="3204270"/>
            <a:ext cx="2599134"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Models fluctuating road capacities and transit risks across discrete time steps as floodwaters rise over time, enabling adaptive route planning.</a:t>
            </a:r>
            <a:endParaRPr lang="en-US" sz="1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2144762"/>
            <a:ext cx="354360" cy="354360"/>
          </a:xfrm>
          <a:prstGeom prst="rect">
            <a:avLst/>
          </a:prstGeom>
        </p:spPr>
      </p:pic>
      <p:sp>
        <p:nvSpPr>
          <p:cNvPr id="8" name="Text 4"/>
          <p:cNvSpPr/>
          <p:nvPr/>
        </p:nvSpPr>
        <p:spPr>
          <a:xfrm>
            <a:off x="3272433" y="2676302"/>
            <a:ext cx="259913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Uncertainty-Aware Human-in-the-Loop Triage</a:t>
            </a:r>
            <a:endParaRPr lang="en-US" sz="1350" dirty="0"/>
          </a:p>
        </p:txBody>
      </p:sp>
      <p:sp>
        <p:nvSpPr>
          <p:cNvPr id="9" name="Text 5"/>
          <p:cNvSpPr/>
          <p:nvPr/>
        </p:nvSpPr>
        <p:spPr>
          <a:xfrm>
            <a:off x="3272433" y="3204270"/>
            <a:ext cx="2599134"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Uses Monte Carlo Dropout to calculate ML urgency confidence variance and automatically route low-confidence SOS predictions to human operators for validation.</a:t>
            </a:r>
            <a:endParaRPr lang="en-US" sz="110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2144762"/>
            <a:ext cx="354360" cy="354360"/>
          </a:xfrm>
          <a:prstGeom prst="rect">
            <a:avLst/>
          </a:prstGeom>
        </p:spPr>
      </p:pic>
      <p:sp>
        <p:nvSpPr>
          <p:cNvPr id="11" name="Text 6"/>
          <p:cNvSpPr/>
          <p:nvPr/>
        </p:nvSpPr>
        <p:spPr>
          <a:xfrm>
            <a:off x="6048747" y="2676302"/>
            <a:ext cx="259913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CFCBBF"/>
                </a:solidFill>
                <a:latin typeface="Prata" pitchFamily="34" charset="0"/>
                <a:ea typeface="Prata" pitchFamily="34" charset="-122"/>
                <a:cs typeface="Prata" pitchFamily="34" charset="-120"/>
              </a:rPr>
              <a:t>High-Throughput Spatial Ingestion</a:t>
            </a:r>
            <a:endParaRPr lang="en-US" sz="1350" dirty="0"/>
          </a:p>
        </p:txBody>
      </p:sp>
      <p:sp>
        <p:nvSpPr>
          <p:cNvPr id="12" name="Text 7"/>
          <p:cNvSpPr/>
          <p:nvPr/>
        </p:nvSpPr>
        <p:spPr>
          <a:xfrm>
            <a:off x="6048747" y="3204270"/>
            <a:ext cx="2599134"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CFCBBF"/>
                </a:solidFill>
                <a:latin typeface="Raleway" pitchFamily="34" charset="0"/>
                <a:ea typeface="Raleway" pitchFamily="34" charset="-122"/>
                <a:cs typeface="Raleway" pitchFamily="34" charset="-120"/>
              </a:rPr>
              <a:t>Combines an in-memory Redis buffer with PostGIS R-Trees to absorb massive SOS traffic spikes and accelerate DBSCAN clustering execution time for real-time analysis.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66130"/>
            <a:ext cx="4722763" cy="359941"/>
          </a:xfrm>
          <a:prstGeom prst="rect">
            <a:avLst/>
          </a:prstGeom>
          <a:noFill/>
          <a:ln/>
        </p:spPr>
        <p:txBody>
          <a:bodyPr wrap="none" lIns="0" tIns="0" rIns="0" bIns="0" rtlCol="0" anchor="t"/>
          <a:lstStyle/>
          <a:p>
            <a:pPr marL="0" indent="0" algn="l">
              <a:lnSpc>
                <a:spcPct val="104000"/>
              </a:lnSpc>
              <a:buNone/>
            </a:pPr>
            <a:r>
              <a:rPr lang="en-US" sz="2250" dirty="0">
                <a:solidFill>
                  <a:srgbClr val="F2E782"/>
                </a:solidFill>
                <a:latin typeface="Prata" pitchFamily="34" charset="0"/>
                <a:ea typeface="Prata" pitchFamily="34" charset="-122"/>
                <a:cs typeface="Prata" pitchFamily="34" charset="-120"/>
              </a:rPr>
              <a:t>Conclusions </a:t>
            </a:r>
            <a:endParaRPr lang="en-US" sz="2250" dirty="0"/>
          </a:p>
        </p:txBody>
      </p:sp>
      <p:sp>
        <p:nvSpPr>
          <p:cNvPr id="4" name="Shape 1"/>
          <p:cNvSpPr/>
          <p:nvPr/>
        </p:nvSpPr>
        <p:spPr>
          <a:xfrm>
            <a:off x="496119" y="966415"/>
            <a:ext cx="2314575" cy="1134219"/>
          </a:xfrm>
          <a:prstGeom prst="roundRect">
            <a:avLst>
              <a:gd name="adj" fmla="val 1523"/>
            </a:avLst>
          </a:prstGeom>
          <a:solidFill>
            <a:srgbClr val="3A3B3C"/>
          </a:solidFill>
          <a:ln/>
        </p:spPr>
      </p:sp>
      <p:sp>
        <p:nvSpPr>
          <p:cNvPr id="5" name="Text 2"/>
          <p:cNvSpPr/>
          <p:nvPr/>
        </p:nvSpPr>
        <p:spPr>
          <a:xfrm>
            <a:off x="611237" y="1081534"/>
            <a:ext cx="2084338" cy="179933"/>
          </a:xfrm>
          <a:prstGeom prst="rect">
            <a:avLst/>
          </a:prstGeom>
          <a:noFill/>
          <a:ln/>
        </p:spPr>
        <p:txBody>
          <a:bodyPr wrap="none" lIns="0" tIns="0" rIns="0" bIns="0" rtlCol="0" anchor="t"/>
          <a:lstStyle/>
          <a:p>
            <a:pPr marL="0" indent="0" algn="l">
              <a:lnSpc>
                <a:spcPct val="104000"/>
              </a:lnSpc>
              <a:buNone/>
            </a:pPr>
            <a:r>
              <a:rPr lang="en-US" sz="1100" dirty="0">
                <a:solidFill>
                  <a:srgbClr val="CFCBBF"/>
                </a:solidFill>
                <a:latin typeface="Prata" pitchFamily="34" charset="0"/>
                <a:ea typeface="Prata" pitchFamily="34" charset="-122"/>
                <a:cs typeface="Prata" pitchFamily="34" charset="-120"/>
              </a:rPr>
              <a:t>Bridging Theory &amp; Practice</a:t>
            </a:r>
            <a:endParaRPr lang="en-US" sz="1100" dirty="0"/>
          </a:p>
        </p:txBody>
      </p:sp>
      <p:sp>
        <p:nvSpPr>
          <p:cNvPr id="6" name="Text 3"/>
          <p:cNvSpPr/>
          <p:nvPr/>
        </p:nvSpPr>
        <p:spPr>
          <a:xfrm>
            <a:off x="611237" y="1317575"/>
            <a:ext cx="2084338" cy="500955"/>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CFCBBF"/>
                </a:solidFill>
                <a:latin typeface="Raleway" pitchFamily="34" charset="0"/>
                <a:ea typeface="Raleway" pitchFamily="34" charset="-122"/>
                <a:cs typeface="Raleway" pitchFamily="34" charset="-120"/>
              </a:rPr>
              <a:t>Large-scale experimental evaluations on modern benchmarks and real-world disaster datasets.</a:t>
            </a:r>
            <a:endParaRPr lang="en-US" sz="900" dirty="0"/>
          </a:p>
        </p:txBody>
      </p:sp>
      <p:sp>
        <p:nvSpPr>
          <p:cNvPr id="7" name="Shape 4"/>
          <p:cNvSpPr/>
          <p:nvPr/>
        </p:nvSpPr>
        <p:spPr>
          <a:xfrm>
            <a:off x="2904232" y="966415"/>
            <a:ext cx="2314649" cy="1134219"/>
          </a:xfrm>
          <a:prstGeom prst="roundRect">
            <a:avLst>
              <a:gd name="adj" fmla="val 1523"/>
            </a:avLst>
          </a:prstGeom>
          <a:solidFill>
            <a:srgbClr val="3A3B3C"/>
          </a:solidFill>
          <a:ln/>
        </p:spPr>
      </p:sp>
      <p:sp>
        <p:nvSpPr>
          <p:cNvPr id="8" name="Text 5"/>
          <p:cNvSpPr/>
          <p:nvPr/>
        </p:nvSpPr>
        <p:spPr>
          <a:xfrm>
            <a:off x="3019351" y="1081534"/>
            <a:ext cx="2084412" cy="179933"/>
          </a:xfrm>
          <a:prstGeom prst="rect">
            <a:avLst/>
          </a:prstGeom>
          <a:noFill/>
          <a:ln/>
        </p:spPr>
        <p:txBody>
          <a:bodyPr wrap="none" lIns="0" tIns="0" rIns="0" bIns="0" rtlCol="0" anchor="t"/>
          <a:lstStyle/>
          <a:p>
            <a:pPr marL="0" indent="0" algn="l">
              <a:lnSpc>
                <a:spcPct val="104000"/>
              </a:lnSpc>
              <a:buNone/>
            </a:pPr>
            <a:r>
              <a:rPr lang="en-US" sz="1100" dirty="0">
                <a:solidFill>
                  <a:srgbClr val="CFCBBF"/>
                </a:solidFill>
                <a:latin typeface="Prata" pitchFamily="34" charset="0"/>
                <a:ea typeface="Prata" pitchFamily="34" charset="-122"/>
                <a:cs typeface="Prata" pitchFamily="34" charset="-120"/>
              </a:rPr>
              <a:t>Dynamic &amp; Robust Models</a:t>
            </a:r>
            <a:endParaRPr lang="en-US" sz="1100" dirty="0"/>
          </a:p>
        </p:txBody>
      </p:sp>
      <p:sp>
        <p:nvSpPr>
          <p:cNvPr id="9" name="Text 6"/>
          <p:cNvSpPr/>
          <p:nvPr/>
        </p:nvSpPr>
        <p:spPr>
          <a:xfrm>
            <a:off x="3019351" y="1317575"/>
            <a:ext cx="2084412" cy="667941"/>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CFCBBF"/>
                </a:solidFill>
                <a:latin typeface="Raleway" pitchFamily="34" charset="0"/>
                <a:ea typeface="Raleway" pitchFamily="34" charset="-122"/>
                <a:cs typeface="Raleway" pitchFamily="34" charset="-120"/>
              </a:rPr>
              <a:t>Extend push–relabel and scaling methods to time-dependent, uncertain, and partially observed networks.</a:t>
            </a:r>
            <a:endParaRPr lang="en-US" sz="900" dirty="0"/>
          </a:p>
        </p:txBody>
      </p:sp>
      <p:sp>
        <p:nvSpPr>
          <p:cNvPr id="10" name="Shape 7"/>
          <p:cNvSpPr/>
          <p:nvPr/>
        </p:nvSpPr>
        <p:spPr>
          <a:xfrm>
            <a:off x="496119" y="2194173"/>
            <a:ext cx="2314575" cy="967234"/>
          </a:xfrm>
          <a:prstGeom prst="roundRect">
            <a:avLst>
              <a:gd name="adj" fmla="val 1786"/>
            </a:avLst>
          </a:prstGeom>
          <a:solidFill>
            <a:srgbClr val="3A3B3C"/>
          </a:solidFill>
          <a:ln/>
        </p:spPr>
      </p:sp>
      <p:sp>
        <p:nvSpPr>
          <p:cNvPr id="11" name="Text 8"/>
          <p:cNvSpPr/>
          <p:nvPr/>
        </p:nvSpPr>
        <p:spPr>
          <a:xfrm>
            <a:off x="611237" y="2309292"/>
            <a:ext cx="2084338" cy="179933"/>
          </a:xfrm>
          <a:prstGeom prst="rect">
            <a:avLst/>
          </a:prstGeom>
          <a:noFill/>
          <a:ln/>
        </p:spPr>
        <p:txBody>
          <a:bodyPr wrap="none" lIns="0" tIns="0" rIns="0" bIns="0" rtlCol="0" anchor="t"/>
          <a:lstStyle/>
          <a:p>
            <a:pPr marL="0" indent="0" algn="l">
              <a:lnSpc>
                <a:spcPct val="104000"/>
              </a:lnSpc>
              <a:buNone/>
            </a:pPr>
            <a:r>
              <a:rPr lang="en-US" sz="1100" dirty="0">
                <a:solidFill>
                  <a:srgbClr val="CFCBBF"/>
                </a:solidFill>
                <a:latin typeface="Prata" pitchFamily="34" charset="0"/>
                <a:ea typeface="Prata" pitchFamily="34" charset="-122"/>
                <a:cs typeface="Prata" pitchFamily="34" charset="-120"/>
              </a:rPr>
              <a:t>Scalable Implementations</a:t>
            </a:r>
            <a:endParaRPr lang="en-US" sz="1100" dirty="0"/>
          </a:p>
        </p:txBody>
      </p:sp>
      <p:sp>
        <p:nvSpPr>
          <p:cNvPr id="12" name="Text 9"/>
          <p:cNvSpPr/>
          <p:nvPr/>
        </p:nvSpPr>
        <p:spPr>
          <a:xfrm>
            <a:off x="611237" y="2545333"/>
            <a:ext cx="2084338" cy="500955"/>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CFCBBF"/>
                </a:solidFill>
                <a:latin typeface="Raleway" pitchFamily="34" charset="0"/>
                <a:ea typeface="Raleway" pitchFamily="34" charset="-122"/>
                <a:cs typeface="Raleway" pitchFamily="34" charset="-120"/>
              </a:rPr>
              <a:t>Explore parallel/GPU implementations and distributed solvers using dynamic-tree-like accelerations.</a:t>
            </a:r>
            <a:endParaRPr lang="en-US" sz="900" dirty="0"/>
          </a:p>
        </p:txBody>
      </p:sp>
      <p:sp>
        <p:nvSpPr>
          <p:cNvPr id="13" name="Shape 10"/>
          <p:cNvSpPr/>
          <p:nvPr/>
        </p:nvSpPr>
        <p:spPr>
          <a:xfrm>
            <a:off x="2904232" y="2194173"/>
            <a:ext cx="2314649" cy="967234"/>
          </a:xfrm>
          <a:prstGeom prst="roundRect">
            <a:avLst>
              <a:gd name="adj" fmla="val 1786"/>
            </a:avLst>
          </a:prstGeom>
          <a:solidFill>
            <a:srgbClr val="3A3B3C"/>
          </a:solidFill>
          <a:ln/>
        </p:spPr>
      </p:sp>
      <p:sp>
        <p:nvSpPr>
          <p:cNvPr id="14" name="Text 11"/>
          <p:cNvSpPr/>
          <p:nvPr/>
        </p:nvSpPr>
        <p:spPr>
          <a:xfrm>
            <a:off x="3019351" y="2309292"/>
            <a:ext cx="2084412" cy="179933"/>
          </a:xfrm>
          <a:prstGeom prst="rect">
            <a:avLst/>
          </a:prstGeom>
          <a:noFill/>
          <a:ln/>
        </p:spPr>
        <p:txBody>
          <a:bodyPr wrap="none" lIns="0" tIns="0" rIns="0" bIns="0" rtlCol="0" anchor="t"/>
          <a:lstStyle/>
          <a:p>
            <a:pPr marL="0" indent="0" algn="l">
              <a:lnSpc>
                <a:spcPct val="104000"/>
              </a:lnSpc>
              <a:buNone/>
            </a:pPr>
            <a:r>
              <a:rPr lang="en-US" sz="1100" dirty="0">
                <a:solidFill>
                  <a:srgbClr val="CFCBBF"/>
                </a:solidFill>
                <a:latin typeface="Prata" pitchFamily="34" charset="0"/>
                <a:ea typeface="Prata" pitchFamily="34" charset="-122"/>
                <a:cs typeface="Prata" pitchFamily="34" charset="-120"/>
              </a:rPr>
              <a:t>Data-driven Enhancements</a:t>
            </a:r>
            <a:endParaRPr lang="en-US" sz="1100" dirty="0"/>
          </a:p>
        </p:txBody>
      </p:sp>
      <p:sp>
        <p:nvSpPr>
          <p:cNvPr id="15" name="Text 12"/>
          <p:cNvSpPr/>
          <p:nvPr/>
        </p:nvSpPr>
        <p:spPr>
          <a:xfrm>
            <a:off x="3019351" y="2545333"/>
            <a:ext cx="2084412" cy="500955"/>
          </a:xfrm>
          <a:prstGeom prst="rect">
            <a:avLst/>
          </a:prstGeom>
          <a:noFill/>
          <a:ln/>
        </p:spPr>
        <p:txBody>
          <a:bodyPr wrap="square" lIns="0" tIns="0" rIns="0" bIns="0" rtlCol="0" anchor="t">
            <a:normAutofit/>
          </a:bodyPr>
          <a:lstStyle/>
          <a:p>
            <a:pPr marL="0" indent="0" algn="l">
              <a:lnSpc>
                <a:spcPct val="121000"/>
              </a:lnSpc>
              <a:buNone/>
            </a:pPr>
            <a:r>
              <a:rPr lang="en-US" sz="900" dirty="0">
                <a:solidFill>
                  <a:srgbClr val="CFCBBF"/>
                </a:solidFill>
                <a:latin typeface="Raleway" pitchFamily="34" charset="0"/>
                <a:ea typeface="Raleway" pitchFamily="34" charset="-122"/>
                <a:cs typeface="Raleway" pitchFamily="34" charset="-120"/>
              </a:rPr>
              <a:t>Use ML for demand prediction, warm-starting flows, and adaptive heuristics for real-time routing.</a:t>
            </a:r>
            <a:endParaRPr lang="en-US" sz="900" dirty="0"/>
          </a:p>
        </p:txBody>
      </p:sp>
      <p:sp>
        <p:nvSpPr>
          <p:cNvPr id="16" name="Shape 13"/>
          <p:cNvSpPr/>
          <p:nvPr/>
        </p:nvSpPr>
        <p:spPr>
          <a:xfrm>
            <a:off x="496119" y="3295352"/>
            <a:ext cx="4722763" cy="14288"/>
          </a:xfrm>
          <a:prstGeom prst="roundRect">
            <a:avLst>
              <a:gd name="adj" fmla="val 49998"/>
            </a:avLst>
          </a:prstGeom>
          <a:solidFill>
            <a:srgbClr val="CFCBBF">
              <a:alpha val="50000"/>
            </a:srgbClr>
          </a:solidFill>
          <a:ln/>
        </p:spPr>
      </p:sp>
      <p:sp>
        <p:nvSpPr>
          <p:cNvPr id="17" name="Text 14"/>
          <p:cNvSpPr/>
          <p:nvPr/>
        </p:nvSpPr>
        <p:spPr>
          <a:xfrm>
            <a:off x="496119" y="3478709"/>
            <a:ext cx="4722763" cy="179933"/>
          </a:xfrm>
          <a:prstGeom prst="rect">
            <a:avLst/>
          </a:prstGeom>
          <a:noFill/>
          <a:ln/>
        </p:spPr>
        <p:txBody>
          <a:bodyPr wrap="none" lIns="0" tIns="0" rIns="0" bIns="0" rtlCol="0" anchor="t"/>
          <a:lstStyle/>
          <a:p>
            <a:pPr marL="0" indent="0" algn="l">
              <a:lnSpc>
                <a:spcPct val="104000"/>
              </a:lnSpc>
              <a:buNone/>
            </a:pPr>
            <a:r>
              <a:rPr lang="en-US" sz="1100" dirty="0">
                <a:solidFill>
                  <a:srgbClr val="F2E782"/>
                </a:solidFill>
                <a:latin typeface="Prata" pitchFamily="34" charset="0"/>
                <a:ea typeface="Prata" pitchFamily="34" charset="-122"/>
                <a:cs typeface="Prata" pitchFamily="34" charset="-120"/>
              </a:rPr>
              <a:t>References</a:t>
            </a:r>
            <a:endParaRPr lang="en-US" sz="1100" dirty="0"/>
          </a:p>
        </p:txBody>
      </p:sp>
      <p:sp>
        <p:nvSpPr>
          <p:cNvPr id="18" name="Text 15"/>
          <p:cNvSpPr/>
          <p:nvPr/>
        </p:nvSpPr>
        <p:spPr>
          <a:xfrm>
            <a:off x="496119" y="3798987"/>
            <a:ext cx="4722763" cy="878384"/>
          </a:xfrm>
          <a:prstGeom prst="rect">
            <a:avLst/>
          </a:prstGeom>
          <a:noFill/>
          <a:ln/>
        </p:spPr>
        <p:txBody>
          <a:bodyPr wrap="square" lIns="0" tIns="0" rIns="0" bIns="0" rtlCol="0" anchor="t"/>
          <a:lstStyle/>
          <a:p>
            <a:pPr marL="0" indent="0" algn="l">
              <a:lnSpc>
                <a:spcPct val="121000"/>
              </a:lnSpc>
              <a:spcAft>
                <a:spcPts val="800"/>
              </a:spcAft>
              <a:buNone/>
            </a:pPr>
            <a:r>
              <a:rPr lang="en-US" sz="900" dirty="0">
                <a:solidFill>
                  <a:srgbClr val="CFCBBF"/>
                </a:solidFill>
                <a:latin typeface="Raleway" pitchFamily="34" charset="0"/>
                <a:ea typeface="Raleway" pitchFamily="34" charset="-122"/>
                <a:cs typeface="Raleway" pitchFamily="34" charset="-120"/>
              </a:rPr>
              <a:t> Andrew V. Goldberg, Éva Tardos &amp; Robert E. Tarjan.</a:t>
            </a:r>
            <a:endParaRPr lang="en-US" sz="900" dirty="0"/>
          </a:p>
          <a:p>
            <a:pPr marL="0" indent="0" algn="l">
              <a:lnSpc>
                <a:spcPct val="121000"/>
              </a:lnSpc>
              <a:spcAft>
                <a:spcPts val="800"/>
              </a:spcAft>
              <a:buNone/>
            </a:pPr>
            <a:r>
              <a:rPr lang="en-US" sz="900" dirty="0">
                <a:solidFill>
                  <a:srgbClr val="CFCBBF"/>
                </a:solidFill>
                <a:latin typeface="Raleway" pitchFamily="34" charset="0"/>
                <a:ea typeface="Raleway" pitchFamily="34" charset="-122"/>
                <a:cs typeface="Raleway" pitchFamily="34" charset="-120"/>
              </a:rPr>
              <a:t>Network Flow Algorithms — foundational theory and algorithmic contributions. </a:t>
            </a:r>
            <a:endParaRPr lang="en-US" sz="900" dirty="0"/>
          </a:p>
          <a:p>
            <a:pPr marL="0" indent="0" algn="l">
              <a:lnSpc>
                <a:spcPct val="121000"/>
              </a:lnSpc>
              <a:buNone/>
            </a:pPr>
            <a:r>
              <a:rPr lang="en-US" sz="900" dirty="0">
                <a:solidFill>
                  <a:srgbClr val="CFCBBF"/>
                </a:solidFill>
                <a:latin typeface="Raleway" pitchFamily="34" charset="0"/>
                <a:ea typeface="Raleway" pitchFamily="34" charset="-122"/>
                <a:cs typeface="Raleway" pitchFamily="34" charset="-120"/>
              </a:rPr>
              <a:t>Additional references: contemporary studies on NFOM, DSCM, and ambulance dispatch literature (detailed bibliography to accompany this deck).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797</Words>
  <Application>Microsoft Office PowerPoint</Application>
  <PresentationFormat>On-screen Show (16:9)</PresentationFormat>
  <Paragraphs>84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Prata</vt:lpstr>
      <vt:lpstr>Raleway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Kruthika reddy Mayreddy</cp:lastModifiedBy>
  <cp:revision>2</cp:revision>
  <dcterms:created xsi:type="dcterms:W3CDTF">2026-08-17T04:44:05Z</dcterms:created>
  <dcterms:modified xsi:type="dcterms:W3CDTF">2026-08-17T05:04:41Z</dcterms:modified>
</cp:coreProperties>
</file>