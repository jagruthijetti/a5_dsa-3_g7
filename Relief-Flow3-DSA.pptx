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Arial Rounded MT Bold" panose="020F0704030504030204" pitchFamily="34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</p:embeddedFont>
    <p:embeddedFont>
      <p:font typeface="Merriweather" panose="00000500000000000000" pitchFamily="2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13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7037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ReliefFlow — Real-Time Emergency Triage &amp; Telemetry Pipeline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5245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Algorithmic Optimization Overview :-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(Review 3 — 75% Milestone Completion)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769916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3776266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7EDD4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39652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Member 1 : M Kruthika Reddy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43739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Multi-Pattern Automaton &amp; Ingestion Filtering Engine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486539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486539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505440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Member 2 : Jagruthi Jetti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46308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Priority Heap Extraction, Single-Pattern Matching &amp; Telemetry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4688"/>
            <a:ext cx="6296860" cy="9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 &amp; Workload-to-Algorithm Mapping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1885950"/>
            <a:ext cx="296835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Real-World Problem</a:t>
            </a:r>
            <a:endParaRPr lang="en-US" sz="1600" b="1" dirty="0"/>
          </a:p>
        </p:txBody>
      </p:sp>
      <p:sp>
        <p:nvSpPr>
          <p:cNvPr id="5" name="Text 2"/>
          <p:cNvSpPr/>
          <p:nvPr/>
        </p:nvSpPr>
        <p:spPr>
          <a:xfrm>
            <a:off x="661474" y="2231926"/>
            <a:ext cx="6296859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distress streams contain heavy noise (e.g., minor traffic, routine checkups). Processing unindexed streams under server strain requires dynamic algorithmic filtering rather than standard, slow database queries.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4" y="3759200"/>
            <a:ext cx="3910717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Workload-to-Algorithm Mapping</a:t>
            </a:r>
            <a:endParaRPr lang="en-US" sz="1600" b="1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785" y="4440054"/>
            <a:ext cx="3368689" cy="12270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8716" y="4680191"/>
            <a:ext cx="3085681" cy="356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Dictionary Crisis Screening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07907" y="5063883"/>
            <a:ext cx="3085681" cy="335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Aho-Corasick Automaton — </a:t>
            </a:r>
            <a:r>
              <a:rPr lang="en-US" sz="11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 + L + Z)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0642" y="4146550"/>
            <a:ext cx="2968352" cy="8960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83523" y="4313238"/>
            <a:ext cx="25587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Single-Target Verification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383523" y="4659214"/>
            <a:ext cx="255878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KMP Algorithm — </a:t>
            </a:r>
            <a:r>
              <a:rPr lang="en-US" sz="11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 + M)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0642" y="5157887"/>
            <a:ext cx="2968352" cy="11063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83523" y="5324575"/>
            <a:ext cx="255878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Dynamic Priority Dispatch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383523" y="5670550"/>
            <a:ext cx="2558788" cy="427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Binary Max-Heap — </a:t>
            </a:r>
            <a:r>
              <a:rPr lang="en-US" sz="11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Peak Extract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 &amp; Smart Triage Filter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890" y="909538"/>
            <a:ext cx="6137915" cy="579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6170" y="4767087"/>
            <a:ext cx="1948549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CSV Stream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16170" y="5159728"/>
            <a:ext cx="1948549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input of records for filtering.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83441" y="2001621"/>
            <a:ext cx="19485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Aho-Corasick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083441" y="2394262"/>
            <a:ext cx="1948548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Multi-pattern match flags emergency vs routine.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37491" y="4675381"/>
            <a:ext cx="19485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Triage Split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37491" y="5068021"/>
            <a:ext cx="1948548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Emergency → max-heap; routine bypasses queue.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680005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Emergency Path (Flag Match)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1475" y="6994922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Pushed directly into the Binary Max-Heap Priority Queue for immediate urgency ordering.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17487" y="680005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Routine Path (No Flag)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487" y="6994922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Bypasses the emergency queue entirely to prevent queue saturation and preserve throughput.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58006"/>
            <a:ext cx="10752067" cy="45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chemeClr val="accent4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End-to-End Execution Flow</a:t>
            </a:r>
            <a:endParaRPr lang="en-US" sz="285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19814" y="1252637"/>
            <a:ext cx="10752067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ReliefFlow pipeline processes raw emergency distress data through four sequential stages, each governed by a distinct algorithmic component. The design eliminates redundant passes over the stream and bounds total latency to the sum of individual algorithm complexities.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810345"/>
            <a:ext cx="5376033" cy="5848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5960" y="2514005"/>
            <a:ext cx="508374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① CSV Distress Stream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5960" y="2813645"/>
            <a:ext cx="5083742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Raw unformatted emergency messages ingested line-by-line from batch input files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810345"/>
            <a:ext cx="5376033" cy="5848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1993" y="2514005"/>
            <a:ext cx="508374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② Aho-Corasick Automaton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41993" y="2813645"/>
            <a:ext cx="5083742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Simultaneous multi-keyword search flags crisis terms — </a:t>
            </a:r>
            <a:r>
              <a:rPr lang="en-US" sz="1150" dirty="0">
                <a:highlight>
                  <a:srgbClr val="8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"trapped"</a:t>
            </a:r>
            <a:r>
              <a:rPr lang="en-US" sz="1150" dirty="0">
                <a:highlight>
                  <a:srgbClr val="808000"/>
                </a:highligh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1150" dirty="0">
                <a:highlight>
                  <a:srgbClr val="8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"bleeding"</a:t>
            </a:r>
            <a:r>
              <a:rPr lang="en-US" sz="1150" dirty="0">
                <a:highlight>
                  <a:srgbClr val="808000"/>
                </a:highligh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 in a single linear pass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4" y="3383855"/>
            <a:ext cx="5376033" cy="5848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5960" y="4087515"/>
            <a:ext cx="508374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③ Binary Max-Heap Queue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65960" y="4387155"/>
            <a:ext cx="5083742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Auto-sorts incoming flagged signals by calculated urgency score in </a:t>
            </a:r>
            <a:r>
              <a:rPr lang="en-US" sz="1150" dirty="0">
                <a:highlight>
                  <a:srgbClr val="8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O(log K)</a:t>
            </a:r>
            <a:r>
              <a:rPr lang="en-US" sz="1150" dirty="0">
                <a:highlight>
                  <a:srgbClr val="808000"/>
                </a:highligh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 insertion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383855"/>
            <a:ext cx="5376033" cy="5848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1993" y="4087515"/>
            <a:ext cx="508374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④ Priority Dispatch Telemetry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241993" y="4387155"/>
            <a:ext cx="5083742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Extracts top-urgency dispatches with sub-millisecond execution tracking via </a:t>
            </a:r>
            <a:r>
              <a:rPr lang="en-US" sz="1150" dirty="0">
                <a:highlight>
                  <a:srgbClr val="8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System.nanoTime()</a:t>
            </a:r>
            <a:endParaRPr lang="en-US" sz="1150" dirty="0">
              <a:highlight>
                <a:srgbClr val="808000"/>
              </a:highlight>
            </a:endParaRPr>
          </a:p>
        </p:txBody>
      </p:sp>
      <p:sp>
        <p:nvSpPr>
          <p:cNvPr id="17" name="Text 11"/>
          <p:cNvSpPr/>
          <p:nvPr/>
        </p:nvSpPr>
        <p:spPr>
          <a:xfrm>
            <a:off x="760592" y="5209778"/>
            <a:ext cx="5116087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Invariant</a:t>
            </a:r>
            <a:endParaRPr 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760592" y="5556945"/>
            <a:ext cx="5116087" cy="636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stage hands off only flagged, scored records to the next — the heap never receives unmatched records, keeping </a:t>
            </a:r>
            <a:r>
              <a:rPr lang="en-US" sz="1150" dirty="0">
                <a:highlight>
                  <a:srgbClr val="8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 ≪ N</a:t>
            </a:r>
            <a:r>
              <a:rPr lang="en-US" sz="1150" dirty="0">
                <a:highlight>
                  <a:srgbClr val="808000"/>
                </a:highligh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bounding memory consumption regardless of stream volume.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280588" y="5209778"/>
            <a:ext cx="519764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Benefit</a:t>
            </a:r>
            <a:endParaRPr 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6280588" y="5556945"/>
            <a:ext cx="5197643" cy="636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character-pointer backtracking, no repeated full-stream scans, no secondary sort passes. The pipeline is architected for a single bounded traversal from ingestion to dispatch output.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02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Algorithmic Complexity Matrix</a:t>
            </a:r>
            <a:endParaRPr lang="en-US" sz="3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98935"/>
          <a:ext cx="10868745" cy="4215897"/>
        </p:xfrm>
        <a:graphic>
          <a:graphicData uri="http://schemas.openxmlformats.org/drawingml/2006/table">
            <a:tbl>
              <a:tblPr/>
              <a:tblGrid>
                <a:gridCol w="19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4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Algorithm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Structure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 Case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Time Complexity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Space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Aho-Corasick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Trie + BFS Failure Links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Multi-Keyword Triage Filtering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+ L + Z)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O(Σ · L)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KMP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LPS (π) Array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Single Keyword Target Match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+ M)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O(M)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Max-Heap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Complete Binary Tree Array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Dynamic Urgency Ordering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Fetch / </a:t>
                      </a: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K)</a:t>
                      </a: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Push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O(K)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Dijkstra </a:t>
                      </a:r>
                      <a:r>
                        <a:rPr lang="en-US" sz="1450" b="1" i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(Planned)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Min-Heap + Adjacency List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Dispatch Route Navigation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O((V + E) log V)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+ E)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Supply Trie </a:t>
                      </a:r>
                      <a:r>
                        <a:rPr lang="en-US" sz="1450" b="1" i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(Planned)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Prefix Tree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Medical Asset Lookup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O(Σ · L · N)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5375" y="434691"/>
            <a:ext cx="8117753" cy="623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Code Mechanics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85374" y="1118897"/>
            <a:ext cx="1640755" cy="243505"/>
          </a:xfrm>
          <a:prstGeom prst="roundRect">
            <a:avLst>
              <a:gd name="adj" fmla="val 22110"/>
            </a:avLst>
          </a:prstGeom>
          <a:solidFill>
            <a:srgbClr val="F7EDD4"/>
          </a:solidFill>
          <a:ln/>
        </p:spPr>
      </p:sp>
      <p:sp>
        <p:nvSpPr>
          <p:cNvPr id="5" name="Text 2"/>
          <p:cNvSpPr/>
          <p:nvPr/>
        </p:nvSpPr>
        <p:spPr>
          <a:xfrm>
            <a:off x="675662" y="1172029"/>
            <a:ext cx="1338196" cy="19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AHO-CORASICK FILTER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85374" y="1660037"/>
            <a:ext cx="11326290" cy="307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C4E3D"/>
                </a:solidFill>
                <a:latin typeface="Arial Rounded MT Bold" panose="020F0704030504030204" pitchFamily="34" charset="0"/>
                <a:ea typeface="Libre Baskerville" pitchFamily="34" charset="-122"/>
                <a:cs typeface="Libre Baskerville" pitchFamily="34" charset="-120"/>
              </a:rPr>
              <a:t>Key Implementation Highlights</a:t>
            </a:r>
            <a:endParaRPr lang="en-US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7795" y="1886993"/>
            <a:ext cx="717722" cy="1071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61611" y="2265055"/>
            <a:ext cx="9868778" cy="355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Trie Build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61610" y="2620357"/>
            <a:ext cx="10154089" cy="808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dictionary state tree for crisis terms: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"trapped"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"bleeding"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"collapse"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"unconscious"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"flood"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"fire“</a:t>
            </a:r>
          </a:p>
          <a:p>
            <a:r>
              <a:rPr lang="en-IN" sz="1600" b="1" dirty="0"/>
              <a:t>Mechanics:</a:t>
            </a:r>
            <a:r>
              <a:rPr lang="en-IN" sz="1600" dirty="0"/>
              <a:t> Inserts all 6 crisis keywords into a root-anchored tree. Each path down the tree represents a character sequence of the emergency dictionary. 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378" y="3166470"/>
            <a:ext cx="717722" cy="1071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61611" y="3574247"/>
            <a:ext cx="9868778" cy="27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BFS Failure Transitions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61611" y="3929548"/>
            <a:ext cx="9868778" cy="72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Precomputes failure pointers to enable fast non-backtracking text scanning</a:t>
            </a:r>
          </a:p>
          <a:p>
            <a:r>
              <a:rPr lang="en-IN" sz="1400" b="1" dirty="0"/>
              <a:t>Failure Transitions:</a:t>
            </a:r>
            <a:r>
              <a:rPr lang="en-IN" sz="1400" dirty="0"/>
              <a:t> Calculates fallback pointers for every node. If a character mismatch occurs while reading distress text, the search pointer follows the failure link to the longest valid suffix without resetting the input stream pointer back to the beginning.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0378" y="4445947"/>
            <a:ext cx="717722" cy="1071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15517" y="4862071"/>
            <a:ext cx="9868778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Triage Decision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15517" y="5197963"/>
            <a:ext cx="9868778" cy="83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Signals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MainDemo.java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push flagged text into the priority queue</a:t>
            </a:r>
          </a:p>
          <a:p>
            <a:r>
              <a:rPr lang="en-IN" sz="1400" b="1" dirty="0"/>
              <a:t>Filter Handoff:</a:t>
            </a:r>
            <a:r>
              <a:rPr lang="en-IN" sz="1400" dirty="0"/>
              <a:t> Returns a populated list of matched keywords. If matches exist, it flags the record as a verified emergency and hands it off to Member 2's Max-Heap; otherwise, it routes the message away to the non-urgent log to prevent emergency queue saturation.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518" y="4330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Code Mechanics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76418" y="1218831"/>
            <a:ext cx="2171249" cy="287139"/>
          </a:xfrm>
          <a:prstGeom prst="roundRect">
            <a:avLst>
              <a:gd name="adj" fmla="val 22118"/>
            </a:avLst>
          </a:prstGeom>
          <a:solidFill>
            <a:srgbClr val="F7EDD4"/>
          </a:solidFill>
          <a:ln/>
        </p:spPr>
      </p:sp>
      <p:sp>
        <p:nvSpPr>
          <p:cNvPr id="4" name="Text 2"/>
          <p:cNvSpPr/>
          <p:nvPr/>
        </p:nvSpPr>
        <p:spPr>
          <a:xfrm>
            <a:off x="589822" y="1275484"/>
            <a:ext cx="255402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KMP &amp; MAX-HEAP SORTING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6418" y="1841656"/>
            <a:ext cx="3496877" cy="4455730"/>
          </a:xfrm>
          <a:prstGeom prst="roundRect">
            <a:avLst>
              <a:gd name="adj" fmla="val 28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1775" y="2037018"/>
            <a:ext cx="567021" cy="567035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743" y="2192891"/>
            <a:ext cx="255085" cy="2550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1775" y="279306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KMP Prefix Function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71775" y="3201746"/>
            <a:ext cx="3106164" cy="278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Computes π-table in </a:t>
            </a: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O(M)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time for targeted single-keyword scans without character backtracking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r>
              <a:rPr lang="en-IN" sz="1600" b="1" dirty="0"/>
              <a:t>Non-Backtracking Search:</a:t>
            </a:r>
            <a:r>
              <a:rPr lang="en-IN" sz="1600" dirty="0"/>
              <a:t> When executing </a:t>
            </a:r>
            <a:r>
              <a:rPr lang="en-IN" dirty="0" err="1"/>
              <a:t>KMPMatcher.search</a:t>
            </a:r>
            <a:r>
              <a:rPr lang="en-IN" dirty="0"/>
              <a:t>(text, pattern)</a:t>
            </a:r>
            <a:r>
              <a:rPr lang="en-IN" sz="1600" dirty="0"/>
              <a:t>, the algorithm uses the LPS array on character mismatches to shift pattern alignment forward without re-evaluating previously matched text characters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62302" y="1841656"/>
            <a:ext cx="3496877" cy="4406744"/>
          </a:xfrm>
          <a:prstGeom prst="roundRect">
            <a:avLst>
              <a:gd name="adj" fmla="val 28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7659" y="2037018"/>
            <a:ext cx="567021" cy="567035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3627" y="2192891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57659" y="2793065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Max-Heap Priority Queue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0"/>
              <p:cNvSpPr/>
              <p:nvPr/>
            </p:nvSpPr>
            <p:spPr>
              <a:xfrm>
                <a:off x="4357659" y="3497021"/>
                <a:ext cx="3106164" cy="24901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92500"/>
              </a:bodyPr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400" dirty="0">
                    <a:solidFill>
                      <a:srgbClr val="454240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Overrides </a:t>
                </a:r>
                <a:r>
                  <a:rPr lang="en-US" sz="1400" dirty="0">
                    <a:solidFill>
                      <a:srgbClr val="454240"/>
                    </a:solidFill>
                    <a:highlight>
                      <a:srgbClr val="F2F0ED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compareTo()</a:t>
                </a:r>
                <a:r>
                  <a:rPr lang="en-US" sz="1400" dirty="0">
                    <a:solidFill>
                      <a:srgbClr val="454240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 on urgency scores to guarantee </a:t>
                </a:r>
                <a:r>
                  <a:rPr lang="en-US" sz="1400" dirty="0">
                    <a:solidFill>
                      <a:srgbClr val="454240"/>
                    </a:solidFill>
                    <a:highlight>
                      <a:srgbClr val="F2F0ED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O(1)</a:t>
                </a:r>
                <a:r>
                  <a:rPr lang="en-US" sz="1400" dirty="0">
                    <a:solidFill>
                      <a:srgbClr val="454240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 extraction of top-tier emergencies.</a:t>
                </a:r>
              </a:p>
              <a:p>
                <a:pPr marL="0" indent="0" algn="l">
                  <a:lnSpc>
                    <a:spcPct val="133000"/>
                  </a:lnSpc>
                  <a:buNone/>
                </a:pPr>
                <a:endParaRPr lang="en-US" sz="14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IN" sz="1600" b="1" dirty="0"/>
                  <a:t>Dynamic </a:t>
                </a:r>
                <a:r>
                  <a:rPr lang="en-IN" sz="1600" b="1" dirty="0" err="1"/>
                  <a:t>Heapify</a:t>
                </a:r>
                <a:r>
                  <a:rPr lang="en-IN" sz="1600" b="1" dirty="0"/>
                  <a:t>-Up (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IN" sz="16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func>
                      </m:e>
                    </m:d>
                  </m:oMath>
                </a14:m>
                <a:r>
                  <a:rPr lang="en-IN" sz="1600" b="1" dirty="0"/>
                  <a:t>):</a:t>
                </a:r>
                <a:r>
                  <a:rPr lang="en-IN" sz="1600" dirty="0"/>
                  <a:t> When </a:t>
                </a:r>
                <a:r>
                  <a:rPr lang="en-IN" sz="1600" dirty="0" err="1"/>
                  <a:t>addIncident</a:t>
                </a:r>
                <a:r>
                  <a:rPr lang="en-IN" sz="1600" dirty="0"/>
                  <a:t>() receives a flagged emergency , the item bubbles up to preserve the Max-Heap property.</a:t>
                </a:r>
                <a:r>
                  <a:rPr lang="en-IN" sz="1400" dirty="0"/>
                  <a:t> </a:t>
                </a:r>
                <a:endParaRPr lang="en-US" sz="1200" dirty="0"/>
              </a:p>
            </p:txBody>
          </p:sp>
        </mc:Choice>
        <mc:Fallback xmlns="">
          <p:sp>
            <p:nvSpPr>
              <p:cNvPr id="14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659" y="3497021"/>
                <a:ext cx="3106164" cy="2490121"/>
              </a:xfrm>
              <a:prstGeom prst="rect">
                <a:avLst/>
              </a:prstGeom>
              <a:blipFill>
                <a:blip r:embed="rId5"/>
                <a:stretch>
                  <a:fillRect l="-3733" t="-490" r="-353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1"/>
          <p:cNvSpPr/>
          <p:nvPr/>
        </p:nvSpPr>
        <p:spPr>
          <a:xfrm>
            <a:off x="7848187" y="1841656"/>
            <a:ext cx="3496877" cy="4406744"/>
          </a:xfrm>
          <a:prstGeom prst="roundRect">
            <a:avLst>
              <a:gd name="adj" fmla="val 28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3543" y="2037018"/>
            <a:ext cx="567021" cy="567035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9511" y="2192891"/>
            <a:ext cx="255085" cy="2550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3543" y="279306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Telemetry Driver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043543" y="3201747"/>
            <a:ext cx="3106164" cy="2632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execution latency using </a:t>
            </a:r>
            <a:r>
              <a:rPr lang="en-US" sz="1450" dirty="0" err="1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System.nanoTime</a:t>
            </a: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rgbClr val="454240"/>
              </a:solidFill>
              <a:highlight>
                <a:srgbClr val="F2F0ED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IN" sz="1600" b="1" dirty="0"/>
              <a:t>Telemetry Logging:</a:t>
            </a:r>
            <a:r>
              <a:rPr lang="en-IN" sz="1600" dirty="0"/>
              <a:t> Aggregates real-time pipeline performance metrics, recording total records processed (25), emergency incidents flagged (17), routine items filtered (8), and overall runtime (~41.24 </a:t>
            </a:r>
            <a:r>
              <a:rPr lang="en-IN" sz="1600" dirty="0" err="1"/>
              <a:t>ms</a:t>
            </a:r>
            <a:r>
              <a:rPr lang="en-IN" sz="1600" dirty="0"/>
              <a:t>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090" y="426194"/>
            <a:ext cx="10868745" cy="54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 Execution Telemetry &amp; Results</a:t>
            </a:r>
            <a:endParaRPr lang="en-US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60089" y="1091669"/>
            <a:ext cx="10148039" cy="429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IN" sz="2000" b="1" dirty="0"/>
              <a:t>Telemetry Benchmark Setup:</a:t>
            </a:r>
            <a:r>
              <a:rPr lang="en-IN" sz="2000" dirty="0"/>
              <a:t> 25 Ingested Records across standard emergency/routine categories.</a:t>
            </a:r>
          </a:p>
          <a:p>
            <a:pPr lvl="0"/>
            <a:endParaRPr lang="en-IN" sz="2000" b="1" dirty="0"/>
          </a:p>
          <a:p>
            <a:pPr lvl="0"/>
            <a:r>
              <a:rPr lang="en-IN" sz="2000" b="1" dirty="0"/>
              <a:t>Pipeline Results:</a:t>
            </a:r>
            <a:endParaRPr lang="en-IN" sz="2000" dirty="0"/>
          </a:p>
          <a:p>
            <a:pPr lvl="1"/>
            <a:r>
              <a:rPr lang="en-IN" sz="2000" b="1" dirty="0"/>
              <a:t>Total Records Ingested:</a:t>
            </a:r>
            <a:r>
              <a:rPr lang="en-IN" sz="2000" dirty="0"/>
              <a:t> 25 </a:t>
            </a:r>
          </a:p>
          <a:p>
            <a:pPr lvl="1"/>
            <a:r>
              <a:rPr lang="en-IN" sz="2000" b="1" dirty="0"/>
              <a:t>Emergency Flags Detected:</a:t>
            </a:r>
            <a:r>
              <a:rPr lang="en-IN" sz="2000" dirty="0"/>
              <a:t> 17 records (68% of stream) </a:t>
            </a:r>
          </a:p>
          <a:p>
            <a:pPr lvl="1"/>
            <a:r>
              <a:rPr lang="en-IN" sz="2000" b="1" dirty="0"/>
              <a:t>Routine Noise Bypassed:</a:t>
            </a:r>
            <a:r>
              <a:rPr lang="en-IN" sz="2000" dirty="0"/>
              <a:t> 8 records (32% of stream)</a:t>
            </a:r>
          </a:p>
          <a:p>
            <a:pPr lvl="1"/>
            <a:r>
              <a:rPr lang="en-IN" sz="2000" b="1" dirty="0"/>
              <a:t>Pipeline Latency:</a:t>
            </a:r>
            <a:r>
              <a:rPr lang="en-IN" sz="2000" dirty="0"/>
              <a:t> ~41.24 </a:t>
            </a:r>
            <a:r>
              <a:rPr lang="en-IN" sz="2000" dirty="0" err="1"/>
              <a:t>ms</a:t>
            </a:r>
            <a:r>
              <a:rPr lang="en-IN" sz="2000" dirty="0"/>
              <a:t> </a:t>
            </a:r>
          </a:p>
          <a:p>
            <a:pPr lvl="1"/>
            <a:endParaRPr lang="en-IN" sz="2000" dirty="0"/>
          </a:p>
          <a:p>
            <a:pPr lvl="0"/>
            <a:r>
              <a:rPr lang="en-IN" sz="2000" b="1" dirty="0"/>
              <a:t>Key Takeaway:</a:t>
            </a:r>
            <a:r>
              <a:rPr lang="en-IN" sz="2000" dirty="0"/>
              <a:t> Filtering low-priority noise prior to heap</a:t>
            </a:r>
          </a:p>
          <a:p>
            <a:pPr lvl="0"/>
            <a:r>
              <a:rPr lang="en-IN" sz="2000" dirty="0"/>
              <a:t> insertion keeps emergency queue operations fast and </a:t>
            </a:r>
          </a:p>
          <a:p>
            <a:pPr lvl="0"/>
            <a:r>
              <a:rPr lang="en-IN" sz="2000" dirty="0"/>
              <a:t>lightweight.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73033" y="4892641"/>
            <a:ext cx="6020253" cy="980893"/>
          </a:xfrm>
          <a:prstGeom prst="roundRect">
            <a:avLst>
              <a:gd name="adj" fmla="val 15857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89" y="5008222"/>
            <a:ext cx="272007" cy="21761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2096" y="5095362"/>
            <a:ext cx="5558919" cy="73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Filtering low-priority noise prior to heap insertion keeps emergency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queue operations fast and lightweight.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9A16E0-75B7-A2A6-574E-0C806B3F2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671" y="1486952"/>
            <a:ext cx="4855029" cy="17859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B70CB-9114-676A-5B27-2A09588FE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286" y="3494314"/>
            <a:ext cx="5792018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314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Deliverables &amp; Review 4 Roadmap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30537"/>
            <a:ext cx="2917851" cy="460970"/>
          </a:xfrm>
          <a:prstGeom prst="roundRect">
            <a:avLst>
              <a:gd name="adj" fmla="val 13778"/>
            </a:avLst>
          </a:prstGeom>
          <a:solidFill>
            <a:srgbClr val="F7EDD4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2287191"/>
            <a:ext cx="269104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3 DELIVERED — 75% MILESTONE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291355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2904133"/>
            <a:ext cx="2303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Multi-Pattern Aho-Corasick Automaton &amp; KMP Matcher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198838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189413"/>
            <a:ext cx="2303603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Binary Max-Heap Priority Queue (</a:t>
            </a: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UrgencyQueue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188049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178623"/>
            <a:ext cx="2303603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CSV Ingestion, Smart Triage Filter &amp; Telemetry Engine (</a:t>
            </a: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MainDemo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450" dirty="0"/>
          </a:p>
        </p:txBody>
      </p:sp>
      <p:sp>
        <p:nvSpPr>
          <p:cNvPr id="12" name="Shape 6"/>
          <p:cNvSpPr/>
          <p:nvPr/>
        </p:nvSpPr>
        <p:spPr>
          <a:xfrm>
            <a:off x="4046833" y="2230537"/>
            <a:ext cx="2917851" cy="460970"/>
          </a:xfrm>
          <a:prstGeom prst="roundRect">
            <a:avLst>
              <a:gd name="adj" fmla="val 13778"/>
            </a:avLst>
          </a:prstGeom>
          <a:noFill/>
          <a:ln w="6350">
            <a:solidFill>
              <a:srgbClr val="B88E23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60237" y="2287191"/>
            <a:ext cx="269104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4 PLANNED — FINAL 25% MILESTONE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7674" y="2913559"/>
            <a:ext cx="283461" cy="283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61081" y="2904133"/>
            <a:ext cx="2303603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DijkstraRouting.java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shortest path navigation</a:t>
            </a:r>
            <a:endParaRPr lang="en-US" sz="14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7674" y="3902770"/>
            <a:ext cx="283461" cy="2834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61081" y="3893344"/>
            <a:ext cx="2303603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SupplyTrie.java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real-time medical asset auto-completion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996</Words>
  <Application>Microsoft Office PowerPoint</Application>
  <PresentationFormat>Widescreen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DM Sans</vt:lpstr>
      <vt:lpstr>Merriweather</vt:lpstr>
      <vt:lpstr>Libre Baskerville</vt:lpstr>
      <vt:lpstr>Arial Rounded MT Bold</vt:lpstr>
      <vt:lpstr>Consolas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Kruthika reddy Mayreddy</cp:lastModifiedBy>
  <cp:revision>4</cp:revision>
  <dcterms:created xsi:type="dcterms:W3CDTF">2026-09-13T07:56:57Z</dcterms:created>
  <dcterms:modified xsi:type="dcterms:W3CDTF">2026-09-15T02:57:13Z</dcterms:modified>
</cp:coreProperties>
</file>